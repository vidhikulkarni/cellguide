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lpqKgPSCwVcQb+oZcG4ggf75n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Spearman ρ</c:v>
          </c:tx>
          <c:spPr>
            <a:solidFill>
              <a:srgbClr val="087F8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Sequence only</c:v>
              </c:pt>
              <c:pt idx="1">
                <c:v>Linear blend</c:v>
              </c:pt>
              <c:pt idx="2">
                <c:v>Accessibility alone</c:v>
              </c:pt>
            </c:strLit>
          </c:cat>
          <c:val>
            <c:numLit>
              <c:formatCode>General</c:formatCode>
              <c:ptCount val="3"/>
              <c:pt idx="0">
                <c:v>0.441</c:v>
              </c:pt>
              <c:pt idx="1">
                <c:v>0.315</c:v>
              </c:pt>
              <c:pt idx="2">
                <c:v>8.4000000000000005E-2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65F-D248-8D17-F48B58298E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D5DD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project overview and one-paragraph pitch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‘The problem, in plain terms’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CellGuide’s idea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project validation philosophy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‘How it’s built’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Track A, Track B, Agents 6 and 8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‘What we’ve actually found so far’, Rounds 1–3</a:t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key numbers 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agent4_benchmarking/output/REPORT.md</a:t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Round 3 and key numbers 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agent4_benchmarking/output/INTERACTION_EFFECT_CHECK.md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Round 2 caveats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‘Careful with these claims on a slide’</a:t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Track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Agents 6 and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example BCL11A workflow</a:t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https://github.com/evo-design/proto-language — Proto 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track_c_proto_design/run.py — staged optimization over existing PAM-derived candidates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track_c_proto_design/design_spec.json — hard gates and three-guides-per-gene panel 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track_c_proto_design/README.md — evidence requirements and no-spacer-mutation policy</a:t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papers/ito_2024/table_s2_tcell_vs_k562_panel.csv — published 20-nt guide sequences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agent4_benchmarking/output/cross_context_panel_results.csv — normalized context accessibility and sequence efficacy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track_c_proto_design/virtual_test.py — partial hard gates and context-contrast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track_c_proto_design/output/proto_virtual_test_results.json — ranked retrospective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Retrospective virtual test only; specificity and full genomic provenance were not assessed.</a:t>
            </a:r>
            <a:endParaRPr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papers/ito_2024/table_s2_tcell_vs_k562_panel.csv — published 20-nt guide sequences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agent4_benchmarking/output/cross_context_panel_results.csv — normalized context accessibility and sequence efficacy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track_c_proto_design/virtual_test.py — partial hard gates and context-contrast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track_c_proto_design/output/proto_virtual_test_results.json — ranked retrospective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HBB tied GATA1 on the displayed metrics. Retrospective virtual test only; specificity was not assessed.</a:t>
            </a:r>
            <a:endParaRPr/>
          </a:p>
        </p:txBody>
      </p:sp>
      <p:sp>
        <p:nvSpPr>
          <p:cNvPr id="283" name="Google Shape;28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tests/test_track_c_proto_design.py — virtual-test and Proto constraint 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Local repository test run, 2026-08-16 — 49 passed, 1 skipped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track_c_proto_design/output/proto_virtual_test_results.json — 9 of 11 passed partial sequence gates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track_c_proto_design/virtual_test.py — hard-gate and ranking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retrospective result is not a biological recommendation; specificity was not assessed.</a:t>
            </a:r>
            <a:endParaRPr/>
          </a:p>
        </p:txBody>
      </p:sp>
      <p:sp>
        <p:nvSpPr>
          <p:cNvPr id="305" name="Google Shape;30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one-paragraph pitch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open validation work and project philosophy</a:t>
            </a:r>
            <a:endParaRPr/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733ac3fb4_1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g3f733ac3fb4_1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one-paragraph pitch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 — open validation work and project philosophy</a:t>
            </a:r>
            <a:endParaRPr/>
          </a:p>
        </p:txBody>
      </p:sp>
      <p:sp>
        <p:nvSpPr>
          <p:cNvPr id="345" name="Google Shape;345;g3f733ac3fb4_1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14350" y="457200"/>
            <a:ext cx="590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CRISPR GUIDE DESIGN • </a:t>
            </a:r>
            <a:r>
              <a:rPr b="1" lang="en-US" sz="1200">
                <a:solidFill>
                  <a:srgbClr val="087F8C"/>
                </a:solidFill>
              </a:rPr>
              <a:t>re</a:t>
            </a:r>
            <a:r>
              <a:rPr b="1" lang="en-US" sz="1200">
                <a:solidFill>
                  <a:srgbClr val="087F8C"/>
                </a:solidFill>
              </a:rPr>
              <a:t>A</a:t>
            </a:r>
            <a:r>
              <a:rPr b="1" lang="en-US" sz="12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gent</a:t>
            </a:r>
            <a:r>
              <a:rPr b="1" lang="en-US" sz="12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 HACKATHON 2026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2925" y="2257350"/>
            <a:ext cx="10443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2250"/>
              <a:buFont typeface="Arial"/>
              <a:buNone/>
            </a:pPr>
            <a:r>
              <a:rPr b="1" lang="en-US" sz="3000">
                <a:solidFill>
                  <a:srgbClr val="075E68"/>
                </a:solidFill>
              </a:rPr>
              <a:t>A trustworthy, generative CRISPR sgRNA designer</a:t>
            </a:r>
            <a:endParaRPr b="1" sz="3000"/>
          </a:p>
        </p:txBody>
      </p:sp>
      <p:sp>
        <p:nvSpPr>
          <p:cNvPr id="19" name="Google Shape;19;p1"/>
          <p:cNvSpPr/>
          <p:nvPr/>
        </p:nvSpPr>
        <p:spPr>
          <a:xfrm>
            <a:off x="514350" y="4972050"/>
            <a:ext cx="6841200" cy="723900"/>
          </a:xfrm>
          <a:prstGeom prst="roundRect">
            <a:avLst>
              <a:gd fmla="val 10526" name="adj"/>
            </a:avLst>
          </a:prstGeom>
          <a:solidFill>
            <a:srgbClr val="DF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42950" y="5095875"/>
            <a:ext cx="6499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Sequence quality  +  chromatin accessibility  +  auditable validation</a:t>
            </a:r>
            <a:endParaRPr/>
          </a:p>
        </p:txBody>
      </p:sp>
      <p:pic>
        <p:nvPicPr>
          <p:cNvPr id="21" name="Google Shape;2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525" y="4267200"/>
            <a:ext cx="4167541" cy="246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4">
            <a:alphaModFix/>
          </a:blip>
          <a:srcRect b="10094" l="31414" r="32929" t="59038"/>
          <a:stretch/>
        </p:blipFill>
        <p:spPr>
          <a:xfrm>
            <a:off x="4159865" y="1319800"/>
            <a:ext cx="2612649" cy="126232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514350" y="1534225"/>
            <a:ext cx="39318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2250"/>
              <a:buFont typeface="Arial"/>
              <a:buNone/>
            </a:pPr>
            <a:r>
              <a:rPr b="1" lang="en-US" sz="6000">
                <a:solidFill>
                  <a:srgbClr val="075E68"/>
                </a:solidFill>
              </a:rPr>
              <a:t>GuideRail</a:t>
            </a:r>
            <a:endParaRPr b="1"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 good sequence is not always a good guide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95300" y="1638300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Most design tools score what is encoded in the guide sequence. Cells add a second constraint: whether Cas9 can physically reach the target DNA.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95300" y="2619375"/>
            <a:ext cx="521970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981700" y="2619375"/>
            <a:ext cx="5715000" cy="2952750"/>
          </a:xfrm>
          <a:prstGeom prst="roundRect">
            <a:avLst>
              <a:gd fmla="val 2581" name="adj"/>
            </a:avLst>
          </a:prstGeom>
          <a:solidFill>
            <a:srgbClr val="DFF4F3"/>
          </a:solidFill>
          <a:ln cap="flat" cmpd="sng" w="1905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62000" y="28765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SEQUENCE-ONLY VIEW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62000" y="3267075"/>
            <a:ext cx="371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Same 20-nt guide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62000" y="3943350"/>
            <a:ext cx="4191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GC content and learned sequence patterns are fixed. The score cannot see the cell type.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86500" y="28765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CELL-CONTEXT VIEW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286500" y="3267075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Different accessibility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286500" y="3943350"/>
            <a:ext cx="4572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Open chromatin can expose the site; closed chromatin can block it. Accessibility varies by biological condition.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86500" y="5067300"/>
            <a:ext cx="2000250" cy="381000"/>
          </a:xfrm>
          <a:prstGeom prst="roundRect">
            <a:avLst>
              <a:gd fmla="val 20000" name="adj"/>
            </a:avLst>
          </a:prstGeom>
          <a:solidFill>
            <a:srgbClr val="EFF8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38900" y="5114925"/>
            <a:ext cx="1695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OPEN → reachable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477250" y="5067300"/>
            <a:ext cx="2381250" cy="381000"/>
          </a:xfrm>
          <a:prstGeom prst="roundRect">
            <a:avLst>
              <a:gd fmla="val 20000" name="adj"/>
            </a:avLst>
          </a:prstGeom>
          <a:solidFill>
            <a:srgbClr val="FCE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629650" y="5114925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6B5B"/>
                </a:solidFill>
                <a:latin typeface="Arial"/>
                <a:ea typeface="Arial"/>
                <a:cs typeface="Arial"/>
                <a:sym typeface="Arial"/>
              </a:rPr>
              <a:t>CLOSED → constrained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THE IDEA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CellGuide treats context as evidence, not decoration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95300" y="16383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The same guide sequence is evaluated alongside chromatin accessibility, then every conclusion is checked against measured editing outcomes.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067050" y="3600450"/>
            <a:ext cx="12001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924800" y="3600450"/>
            <a:ext cx="12001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95300" y="2781300"/>
            <a:ext cx="2571750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267200" y="2495550"/>
            <a:ext cx="3657600" cy="2286000"/>
          </a:xfrm>
          <a:prstGeom prst="roundRect">
            <a:avLst>
              <a:gd fmla="val 3333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9124950" y="2781300"/>
            <a:ext cx="2571750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42950" y="29908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42950" y="3390900"/>
            <a:ext cx="2000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Guide sequence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42950" y="3867150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Intrinsic on-target potential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533900" y="2733675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E76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B9E76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533900" y="32194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Biological context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33900" y="379095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ATAC-seq accessibility asks whether the target site is open in the chosen cells.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372600" y="2990850"/>
            <a:ext cx="400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372600" y="3390900"/>
            <a:ext cx="2000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Real outcomes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372600" y="3867150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Benchmark, critique, revise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2095500" y="53340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A context-aware hypothesis is only useful if the validation loop can reject 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Two workflows share one scoring core and one lab loop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009900" y="2905125"/>
            <a:ext cx="9334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009900" y="4695825"/>
            <a:ext cx="9334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572250" y="3781425"/>
            <a:ext cx="95250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95300" y="2266950"/>
            <a:ext cx="2514600" cy="1657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" y="4057650"/>
            <a:ext cx="2514600" cy="135255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943350" y="2571750"/>
            <a:ext cx="2628900" cy="2476500"/>
          </a:xfrm>
          <a:prstGeom prst="roundRect">
            <a:avLst>
              <a:gd fmla="val 3077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524750" y="2571750"/>
            <a:ext cx="4171950" cy="2476500"/>
          </a:xfrm>
          <a:prstGeom prst="roundRect">
            <a:avLst>
              <a:gd fmla="val 3077" name="adj"/>
            </a:avLst>
          </a:prstGeom>
          <a:solidFill>
            <a:srgbClr val="EFF8DA"/>
          </a:solidFill>
          <a:ln cap="flat" cmpd="sng" w="19050">
            <a:solidFill>
              <a:srgbClr val="B9E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23900" y="245745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TRACK A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23900" y="2762250"/>
            <a:ext cx="2000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Build + validate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23900" y="3255567"/>
            <a:ext cx="2000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Literature → formula → benchmark → critique → provenance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23900" y="424815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TRACK B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23900" y="4516172"/>
            <a:ext cx="200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Score a gene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23900" y="4935933"/>
            <a:ext cx="2000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Gene lookup → candidate guides → prior-report matching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210050" y="2800350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E769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B9E769"/>
                </a:solidFill>
                <a:latin typeface="Arial"/>
                <a:ea typeface="Arial"/>
                <a:cs typeface="Arial"/>
                <a:sym typeface="Arial"/>
              </a:rPr>
              <a:t>SHARED CORE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210050" y="3219450"/>
            <a:ext cx="209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3 scoring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210050" y="3876675"/>
            <a:ext cx="2095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Sequence efficacy plus accessibility, with assumptions written in SPEC.md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810500" y="2800350"/>
            <a:ext cx="2476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CLOSED-LOOP LEARNING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7810500" y="3209925"/>
            <a:ext cx="3524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Recommend → test → record → update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810500" y="3924300"/>
            <a:ext cx="3333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Agent 6 prioritizes the most informative experiment. Agent 8 sends it to Benchling and returns real results.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VALIDATION JOURNEY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The pipeline improved by finding reasons to distrust itself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14400" y="3171825"/>
            <a:ext cx="1036320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295400" y="3048000"/>
            <a:ext cx="285750" cy="285750"/>
          </a:xfrm>
          <a:prstGeom prst="roundRect">
            <a:avLst>
              <a:gd fmla="val 26667" name="adj"/>
            </a:avLst>
          </a:prstGeom>
          <a:solidFill>
            <a:srgbClr val="F26B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953000" y="3048000"/>
            <a:ext cx="285750" cy="285750"/>
          </a:xfrm>
          <a:prstGeom prst="roundRect">
            <a:avLst>
              <a:gd fmla="val 26667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610600" y="3048000"/>
            <a:ext cx="285750" cy="285750"/>
          </a:xfrm>
          <a:prstGeom prst="roundRect">
            <a:avLst>
              <a:gd fmla="val 26667" name="adj"/>
            </a:avLst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14400" y="23622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5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26B5B"/>
                </a:solidFill>
                <a:latin typeface="Arial"/>
                <a:ea typeface="Arial"/>
                <a:cs typeface="Arial"/>
                <a:sym typeface="Arial"/>
              </a:rPr>
              <a:t>ROUND 1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572000" y="23622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ROUND 2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229600" y="23622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ROUND 3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14400" y="3619500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The blend underperformed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14400" y="4267200"/>
            <a:ext cx="28575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 missing-specificity fallback made unknown data look safe. Specificity was removed instead of disguised.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572000" y="3619500"/>
            <a:ext cx="2857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Naive tests missed the signal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572000" y="4267200"/>
            <a:ext cx="28575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Marginal accessibility was weak, and ATAC replicate sensitivity remained a real warning.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229600" y="3619500"/>
            <a:ext cx="3048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The conditional claim reproduced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229600" y="4267200"/>
            <a:ext cx="3048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Among above-median sequence guides, accessibility showed significant conditional value.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BENCHMARK EVIDENCE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 simple linear blend made prediction worse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95300" y="1524000"/>
            <a:ext cx="685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Spearman correlation with measured editing efficiency across 199 real guides</a:t>
            </a:r>
            <a:endParaRPr/>
          </a:p>
        </p:txBody>
      </p:sp>
      <p:graphicFrame>
        <p:nvGraphicFramePr>
          <p:cNvPr id="136" name="Google Shape;136;p6"/>
          <p:cNvGraphicFramePr/>
          <p:nvPr/>
        </p:nvGraphicFramePr>
        <p:xfrm>
          <a:off x="495300" y="2076450"/>
          <a:ext cx="6858000" cy="3714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7" name="Google Shape;137;p6"/>
          <p:cNvSpPr/>
          <p:nvPr/>
        </p:nvSpPr>
        <p:spPr>
          <a:xfrm>
            <a:off x="7772400" y="2076450"/>
            <a:ext cx="3924300" cy="3714750"/>
          </a:xfrm>
          <a:prstGeom prst="roundRect">
            <a:avLst>
              <a:gd fmla="val 2051" name="adj"/>
            </a:avLst>
          </a:prstGeom>
          <a:solidFill>
            <a:srgbClr val="FCE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8077200" y="23812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5B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26B5B"/>
                </a:solidFill>
                <a:latin typeface="Arial"/>
                <a:ea typeface="Arial"/>
                <a:cs typeface="Arial"/>
                <a:sym typeface="Arial"/>
              </a:rPr>
              <a:t>THE HONEST VERDICT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077200" y="2905125"/>
            <a:ext cx="3143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0.315 &lt; 0.441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077200" y="3800475"/>
            <a:ext cx="314325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Adding accessibility and an ungrounded specificity term did not create a better universal score. The shipped recommendation therefore falls back to the supported sequence signal.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CORRECTED RESULT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Accessibility matters conditionally—not as a universal add-on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95300" y="16002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Testing Ito et al.’s actual interaction claim changes the interpretation: accessibility adds value among guides that already have above-median sequence scores.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95300" y="2857500"/>
            <a:ext cx="3238500" cy="2286000"/>
          </a:xfrm>
          <a:prstGeom prst="roundRect">
            <a:avLst>
              <a:gd fmla="val 3333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62000" y="327660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ρ = 0.232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62000" y="417195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F4F3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DFF4F3"/>
                </a:solidFill>
                <a:latin typeface="Arial"/>
                <a:ea typeface="Arial"/>
                <a:cs typeface="Arial"/>
                <a:sym typeface="Arial"/>
              </a:rPr>
              <a:t>conditional correlation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229100" y="2857500"/>
            <a:ext cx="3238500" cy="2286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495800" y="327660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p = 0.008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495800" y="417195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statistically significant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962900" y="2857500"/>
            <a:ext cx="3238500" cy="2286000"/>
          </a:xfrm>
          <a:prstGeom prst="roundRect">
            <a:avLst>
              <a:gd fmla="val 3333" name="adj"/>
            </a:avLst>
          </a:prstGeom>
          <a:solidFill>
            <a:srgbClr val="EFF8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229600" y="327660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0.741 → 0.862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229600" y="417195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gate precision increased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66800" y="546735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Subset: n = 131 guides with above-median sequence scores. Signal is real, but it is not yet folded into a defensible single score.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WHAT WE WILL NOT OVERCLAIM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Three boundaries keep the demo scientifically credible</a:t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953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CE8E5"/>
          </a:solidFill>
          <a:ln cap="flat" cmpd="sng" w="9525">
            <a:solidFill>
              <a:srgbClr val="F26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7620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26B5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620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No specificity claim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7620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Off-target assessment was never grounded in a real data source, so it was removed from the scoring library.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2291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4958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4958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ATAC is replicate-sensitive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4958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Borderline guides change pass/fail status across the two accessibility measurements.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9629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2296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2296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Track B needs its own validation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2296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Azimuth-scored new-gene guides do not inherit the ρ = 0.441 result from Ito’s precomputed scores.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PRODUCT WORKFLOW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 gene name becomes a ranked, traceable experiment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95300" y="16002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Track B is the user-facing path; Agents 6 and 8 extend it into a real learning loop.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26098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7815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9532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91249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95300" y="2533650"/>
            <a:ext cx="2114550" cy="20955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85800" y="2743200"/>
            <a:ext cx="1733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85800" y="3152775"/>
            <a:ext cx="1733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Gene symbol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685800" y="3829050"/>
            <a:ext cx="17335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e.g., BCL11A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1242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33147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AGENT 3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3147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Find + score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3147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Real coordinates, sequence and candidate guides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2959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4864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AGENT 9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54864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Check reports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54864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Exact sequence matching after literature search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4676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76581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AGENT 6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6581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Choose next test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6581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High potential plus high uncertainty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96393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98298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E769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B9E769"/>
                </a:solidFill>
                <a:latin typeface="Arial"/>
                <a:ea typeface="Arial"/>
                <a:cs typeface="Arial"/>
                <a:sym typeface="Arial"/>
              </a:rPr>
              <a:t>AGENT 8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98298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Sync Benchling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98298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F4F3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DFF4F3"/>
                </a:solidFill>
                <a:latin typeface="Arial"/>
                <a:ea typeface="Arial"/>
                <a:cs typeface="Arial"/>
                <a:sym typeface="Arial"/>
              </a:rPr>
              <a:t>Send recommendation; retrieve lab result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7467600" y="5029200"/>
            <a:ext cx="4076700" cy="666750"/>
          </a:xfrm>
          <a:prstGeom prst="roundRect">
            <a:avLst>
              <a:gd fmla="val 11429" name="adj"/>
            </a:avLst>
          </a:prstGeom>
          <a:solidFill>
            <a:srgbClr val="EFF8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7696200" y="516255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Wet-lab result returns to update the next recommendation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TRACK C • PROTO DESIGN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Proto turns real guide candidates into a constrained panel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95300" y="16002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 real genomic candidate pool passes evidence gates before context-specific ranking.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26098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7815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9532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9124950" y="3400425"/>
            <a:ext cx="514350" cy="47625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95300" y="2533650"/>
            <a:ext cx="2114550" cy="20955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85800" y="2743200"/>
            <a:ext cx="1733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85800" y="3152775"/>
            <a:ext cx="1733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Agent 3 pool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85800" y="3829050"/>
            <a:ext cx="17335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Real PAM-derived guides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1242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33147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HARD GATES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3147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Filter evidence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3147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Efficacy, GC, specificity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52959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4864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4864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Rank context</a:t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4864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Paired ATAC advantage</a:t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74676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76581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76581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Balance genes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6581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Three guides per target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9639300" y="2533650"/>
            <a:ext cx="1905000" cy="2095500"/>
          </a:xfrm>
          <a:prstGeom prst="roundRect">
            <a:avLst>
              <a:gd fmla="val 4000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9829800" y="274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E769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B9E769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9829800" y="3152775"/>
            <a:ext cx="1524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Export panel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9829800" y="3829050"/>
            <a:ext cx="1524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F4F3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DFF4F3"/>
                </a:solidFill>
                <a:latin typeface="Arial"/>
                <a:ea typeface="Arial"/>
                <a:cs typeface="Arial"/>
                <a:sym typeface="Arial"/>
              </a:rPr>
              <a:t>Ranked CSV + design report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7467600" y="5029200"/>
            <a:ext cx="4076700" cy="666750"/>
          </a:xfrm>
          <a:prstGeom prst="roundRect">
            <a:avLst>
              <a:gd fmla="val 11429" name="adj"/>
            </a:avLst>
          </a:prstGeom>
          <a:solidFill>
            <a:srgbClr val="EFF8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7696200" y="516255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Spacers stay fixed; missing evidence fails visibly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PARTIAL VIRTUAL TEST • T-CELL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Proto retained five T-cell-open guides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953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CE8E5"/>
          </a:solidFill>
          <a:ln cap="flat" cmpd="sng" w="9525">
            <a:solidFill>
              <a:srgbClr val="F26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7620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26B5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7620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GZMA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620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GAGGAACTCCTATAGATTTC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ATAC Δ +1.000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 0.767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2291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4958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4958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GZMB</a:t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4958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GCAACCAATCCTGCTTCTGC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ATAC Δ +1.000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 0.883</a:t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9629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82296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82296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CD3D</a:t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82296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GAACATAGCACGTTTCTCTC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ATAC Δ +1.000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 0.883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PARTIAL VIRTUAL TEST • K562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Proto ranked K562-open guides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4953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CE8E5"/>
          </a:solidFill>
          <a:ln cap="flat" cmpd="sng" w="9525">
            <a:solidFill>
              <a:srgbClr val="F26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620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5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26B5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7620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HBE1</a:t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7620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AGTCAGCACCTTCTTGCCAT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ATAC Δ +0.768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 1.000</a:t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2291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44958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44958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TFR2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44958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CACCGTCCCAGCTGATGAAG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ATAC Δ +0.690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 0.767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7962900" y="2095500"/>
            <a:ext cx="3238500" cy="333375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8229600" y="236220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8229600" y="2952750"/>
            <a:ext cx="2705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GATA1</a:t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8229600" y="378142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GGTACTGCCCATCTCTACCA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ATAC Δ +0.535</a:t>
            </a:r>
            <a:b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Efficacy 0.883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"/>
          <p:cNvSpPr/>
          <p:nvPr/>
        </p:nvSpPr>
        <p:spPr>
          <a:xfrm>
            <a:off x="495300" y="323850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PROTO VIRTUAL TEST RESULTS</a:t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495300" y="638175"/>
            <a:ext cx="112014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The engine and retrospective virtual test are reproducible</a:t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495300" y="1362075"/>
            <a:ext cx="723900" cy="47625"/>
          </a:xfrm>
          <a:prstGeom prst="rect">
            <a:avLst/>
          </a:prstGeom>
          <a:solidFill>
            <a:srgbClr val="B9E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495300" y="6400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CELLGUIDE AI</a:t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95300" y="16002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Published guides were filtered by sequence gates, then ranked by context-specific ATAC advantage.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95300" y="2857500"/>
            <a:ext cx="3238500" cy="2286000"/>
          </a:xfrm>
          <a:prstGeom prst="roundRect">
            <a:avLst>
              <a:gd fmla="val 3333" name="adj"/>
            </a:avLst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762000" y="327660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762000" y="417195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F4F3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DFF4F3"/>
                </a:solidFill>
                <a:latin typeface="Arial"/>
                <a:ea typeface="Arial"/>
                <a:cs typeface="Arial"/>
                <a:sym typeface="Arial"/>
              </a:rPr>
              <a:t>repository tests passed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4229100" y="2857500"/>
            <a:ext cx="3238500" cy="2286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D5D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495800" y="327660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9 / 11</a:t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4495800" y="417195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guides passed partial gates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7962900" y="2857500"/>
            <a:ext cx="3238500" cy="2286000"/>
          </a:xfrm>
          <a:prstGeom prst="roundRect">
            <a:avLst>
              <a:gd fmla="val 3333" name="adj"/>
            </a:avLst>
          </a:prstGeom>
          <a:solidFill>
            <a:srgbClr val="EFF8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8229600" y="327660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2 contexts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8229600" y="417195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 cell and K562 ranked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1066800" y="546735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EOMES and CD33 failed sequence gates. Full validation still needs guide-level specificity + genomic provenance.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514350" y="4953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WHAT CELLGUIDE PROVES TODAY</a:t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514350" y="1276350"/>
            <a:ext cx="10287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Trustworthy guide design starts with a score that can admit when it is wrong.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514350" y="3105150"/>
            <a:ext cx="10668000" cy="19050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514350" y="3524250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514350" y="39624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Validate Azimuth</a:t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514350" y="4495800"/>
            <a:ext cx="3143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Finish the in-context benchmark before transferring claims to new genes.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4171950" y="3524250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4171950" y="39624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Model the interaction</a:t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4171950" y="4495800"/>
            <a:ext cx="3143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Replace the naive linear blend with a conditional accessibility formulation.</a:t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7829550" y="3524250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7829550" y="3962400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  <a:latin typeface="Arial"/>
                <a:ea typeface="Arial"/>
                <a:cs typeface="Arial"/>
                <a:sym typeface="Arial"/>
              </a:rPr>
              <a:t>Generate paired evidence</a:t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7829550" y="4495800"/>
            <a:ext cx="3143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B72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5D6B72"/>
                </a:solidFill>
                <a:latin typeface="Arial"/>
                <a:ea typeface="Arial"/>
                <a:cs typeface="Arial"/>
                <a:sym typeface="Arial"/>
              </a:rPr>
              <a:t>Test the same guide across biological contexts and feed results back through Benchling.</a:t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514350" y="60769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CellGuide AI • context-aware • evidence-linked • ready to learn from the next experiment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733ac3fb4_1_1"/>
          <p:cNvSpPr/>
          <p:nvPr/>
        </p:nvSpPr>
        <p:spPr>
          <a:xfrm>
            <a:off x="0" y="0"/>
            <a:ext cx="1716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733ac3fb4_1_1"/>
          <p:cNvSpPr/>
          <p:nvPr/>
        </p:nvSpPr>
        <p:spPr>
          <a:xfrm>
            <a:off x="514350" y="63150"/>
            <a:ext cx="10287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11212A"/>
                </a:solidFill>
              </a:rPr>
              <a:t>Sponsor tools used</a:t>
            </a:r>
            <a:endParaRPr/>
          </a:p>
        </p:txBody>
      </p:sp>
      <p:sp>
        <p:nvSpPr>
          <p:cNvPr id="349" name="Google Shape;349;g3f733ac3fb4_1_1"/>
          <p:cNvSpPr/>
          <p:nvPr/>
        </p:nvSpPr>
        <p:spPr>
          <a:xfrm>
            <a:off x="514350" y="3105150"/>
            <a:ext cx="10668000" cy="19200"/>
          </a:xfrm>
          <a:prstGeom prst="rect">
            <a:avLst/>
          </a:prstGeom>
          <a:solidFill>
            <a:srgbClr val="D5DD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733ac3fb4_1_1"/>
          <p:cNvSpPr/>
          <p:nvPr/>
        </p:nvSpPr>
        <p:spPr>
          <a:xfrm>
            <a:off x="514350" y="3524250"/>
            <a:ext cx="47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51" name="Google Shape;351;g3f733ac3fb4_1_1"/>
          <p:cNvSpPr/>
          <p:nvPr/>
        </p:nvSpPr>
        <p:spPr>
          <a:xfrm>
            <a:off x="1895300" y="3524250"/>
            <a:ext cx="47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52" name="Google Shape;352;g3f733ac3fb4_1_1"/>
          <p:cNvSpPr/>
          <p:nvPr/>
        </p:nvSpPr>
        <p:spPr>
          <a:xfrm>
            <a:off x="1895300" y="3962400"/>
            <a:ext cx="31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</a:rPr>
              <a:t>Benchling</a:t>
            </a:r>
            <a:endParaRPr/>
          </a:p>
        </p:txBody>
      </p:sp>
      <p:sp>
        <p:nvSpPr>
          <p:cNvPr id="353" name="Google Shape;353;g3f733ac3fb4_1_1"/>
          <p:cNvSpPr/>
          <p:nvPr/>
        </p:nvSpPr>
        <p:spPr>
          <a:xfrm>
            <a:off x="3381100" y="3524250"/>
            <a:ext cx="47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54" name="Google Shape;354;g3f733ac3fb4_1_1"/>
          <p:cNvSpPr/>
          <p:nvPr/>
        </p:nvSpPr>
        <p:spPr>
          <a:xfrm>
            <a:off x="3381100" y="3962400"/>
            <a:ext cx="31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</a:rPr>
              <a:t>Claude Agent SDK</a:t>
            </a:r>
            <a:endParaRPr/>
          </a:p>
        </p:txBody>
      </p:sp>
      <p:sp>
        <p:nvSpPr>
          <p:cNvPr id="355" name="Google Shape;355;g3f733ac3fb4_1_1"/>
          <p:cNvSpPr/>
          <p:nvPr/>
        </p:nvSpPr>
        <p:spPr>
          <a:xfrm>
            <a:off x="514350" y="60769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5E6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5E68"/>
                </a:solidFill>
                <a:latin typeface="Arial"/>
                <a:ea typeface="Arial"/>
                <a:cs typeface="Arial"/>
                <a:sym typeface="Arial"/>
              </a:rPr>
              <a:t>CellGuide AI • context-aware • evidence-linked • ready to learn from the next experiment</a:t>
            </a:r>
            <a:endParaRPr/>
          </a:p>
        </p:txBody>
      </p:sp>
      <p:sp>
        <p:nvSpPr>
          <p:cNvPr id="356" name="Google Shape;356;g3f733ac3fb4_1_1"/>
          <p:cNvSpPr/>
          <p:nvPr/>
        </p:nvSpPr>
        <p:spPr>
          <a:xfrm>
            <a:off x="514350" y="3962400"/>
            <a:ext cx="31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</a:rPr>
              <a:t>Paperclip</a:t>
            </a:r>
            <a:endParaRPr/>
          </a:p>
        </p:txBody>
      </p:sp>
      <p:sp>
        <p:nvSpPr>
          <p:cNvPr id="357" name="Google Shape;357;g3f733ac3fb4_1_1"/>
          <p:cNvSpPr/>
          <p:nvPr/>
        </p:nvSpPr>
        <p:spPr>
          <a:xfrm>
            <a:off x="5610150" y="3524250"/>
            <a:ext cx="47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75">
                <a:solidFill>
                  <a:srgbClr val="087F8C"/>
                </a:solidFill>
              </a:rPr>
              <a:t>4</a:t>
            </a:r>
            <a:endParaRPr/>
          </a:p>
        </p:txBody>
      </p:sp>
      <p:sp>
        <p:nvSpPr>
          <p:cNvPr id="358" name="Google Shape;358;g3f733ac3fb4_1_1"/>
          <p:cNvSpPr/>
          <p:nvPr/>
        </p:nvSpPr>
        <p:spPr>
          <a:xfrm>
            <a:off x="5765200" y="3962400"/>
            <a:ext cx="31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1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212A"/>
                </a:solidFill>
              </a:rPr>
              <a:t>Proto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2026-08-16T16:53:20Z</dcterms:created>
  <dc:creator>Walnut Exporter</dc:creator>
</cp:coreProperties>
</file>