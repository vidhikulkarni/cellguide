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ce39feed364ae7" /><Relationship Type="http://schemas.openxmlformats.org/officeDocument/2006/relationships/extended-properties" Target="/docProps/app.xml" Id="R8ae61d3a08504073" /><Relationship Type="http://schemas.openxmlformats.org/officeDocument/2006/relationships/officeDocument" Target="/ppt/presentation.xml" Id="R3960f7bfa2704e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7e1b1cd35c42ea"/>
  </p:sldMasterIdLst>
  <p:notesMasterIdLst>
    <p:notesMasterId xmlns:r="http://schemas.openxmlformats.org/officeDocument/2006/relationships" r:id="Rcfa69ebaf1ba4b2b"/>
  </p:notesMasterIdLst>
  <p:sldIdLst>
    <p:sldId xmlns:r="http://schemas.openxmlformats.org/officeDocument/2006/relationships" id="256" r:id="Rf3317828be7b478c"/>
    <p:sldId xmlns:r="http://schemas.openxmlformats.org/officeDocument/2006/relationships" id="257" r:id="R4bfbeacadaef4838"/>
    <p:sldId xmlns:r="http://schemas.openxmlformats.org/officeDocument/2006/relationships" id="258" r:id="R2904c14bfdcb4c79"/>
    <p:sldId xmlns:r="http://schemas.openxmlformats.org/officeDocument/2006/relationships" id="259" r:id="R0d91fe89125a4737"/>
    <p:sldId xmlns:r="http://schemas.openxmlformats.org/officeDocument/2006/relationships" id="260" r:id="R55dc2065f3774dba"/>
    <p:sldId xmlns:r="http://schemas.openxmlformats.org/officeDocument/2006/relationships" id="261" r:id="Rbcddd1ec41414b9c"/>
    <p:sldId xmlns:r="http://schemas.openxmlformats.org/officeDocument/2006/relationships" id="262" r:id="R9adb7d27b7a44a64"/>
    <p:sldId xmlns:r="http://schemas.openxmlformats.org/officeDocument/2006/relationships" id="263" r:id="R2dc5b197746b4636"/>
    <p:sldId xmlns:r="http://schemas.openxmlformats.org/officeDocument/2006/relationships" id="264" r:id="Rb177198b3e9c4263"/>
    <p:sldId xmlns:r="http://schemas.openxmlformats.org/officeDocument/2006/relationships" id="265" r:id="R43af278f97c34a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f8cf0fec6e4449" /><Relationship Type="http://schemas.openxmlformats.org/officeDocument/2006/relationships/slideMaster" Target="/ppt/slideMasters/slideMaster1.xml" Id="R4e7e1b1cd35c42ea" /><Relationship Type="http://schemas.openxmlformats.org/officeDocument/2006/relationships/notesMaster" Target="/ppt/notesMasters/notesMaster1.xml" Id="Rcfa69ebaf1ba4b2b" /><Relationship Type="http://schemas.openxmlformats.org/officeDocument/2006/relationships/presProps" Target="/ppt/presProps.xml" Id="Ree6676327a194003" /><Relationship Type="http://schemas.openxmlformats.org/officeDocument/2006/relationships/tableStyles" Target="/ppt/tableStyles.xml" Id="Rfe4c0e1a3d204278" /><Relationship Type="http://schemas.openxmlformats.org/officeDocument/2006/relationships/slide" Target="/ppt/slides/slide1.xml" Id="Rf3317828be7b478c" /><Relationship Type="http://schemas.openxmlformats.org/officeDocument/2006/relationships/slide" Target="/ppt/slides/slide2.xml" Id="R4bfbeacadaef4838" /><Relationship Type="http://schemas.openxmlformats.org/officeDocument/2006/relationships/slide" Target="/ppt/slides/slide3.xml" Id="R2904c14bfdcb4c79" /><Relationship Type="http://schemas.openxmlformats.org/officeDocument/2006/relationships/slide" Target="/ppt/slides/slide4.xml" Id="R0d91fe89125a4737" /><Relationship Type="http://schemas.openxmlformats.org/officeDocument/2006/relationships/slide" Target="/ppt/slides/slide5.xml" Id="R55dc2065f3774dba" /><Relationship Type="http://schemas.openxmlformats.org/officeDocument/2006/relationships/slide" Target="/ppt/slides/slide6.xml" Id="Rbcddd1ec41414b9c" /><Relationship Type="http://schemas.openxmlformats.org/officeDocument/2006/relationships/slide" Target="/ppt/slides/slide7.xml" Id="R9adb7d27b7a44a64" /><Relationship Type="http://schemas.openxmlformats.org/officeDocument/2006/relationships/slide" Target="/ppt/slides/slide8.xml" Id="R2dc5b197746b4636" /><Relationship Type="http://schemas.openxmlformats.org/officeDocument/2006/relationships/slide" Target="/ppt/slides/slide9.xml" Id="Rb177198b3e9c4263" /><Relationship Type="http://schemas.openxmlformats.org/officeDocument/2006/relationships/slide" Target="/ppt/slides/slide10.xml" Id="R43af278f97c34a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2d9fbc30cc4f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63ba397b82403e" /><Relationship Type="http://schemas.openxmlformats.org/officeDocument/2006/relationships/notesMaster" Target="/ppt/notesMasters/notesMaster1.xml" Id="R859acb8beb6140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3110d7d4da4662" /><Relationship Type="http://schemas.openxmlformats.org/officeDocument/2006/relationships/notesMaster" Target="/ppt/notesMasters/notesMaster1.xml" Id="R7a627932d4e346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5276583246470b" /><Relationship Type="http://schemas.openxmlformats.org/officeDocument/2006/relationships/notesMaster" Target="/ppt/notesMasters/notesMaster1.xml" Id="R8e0b17ac3d004c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200437b277421d" /><Relationship Type="http://schemas.openxmlformats.org/officeDocument/2006/relationships/notesMaster" Target="/ppt/notesMasters/notesMaster1.xml" Id="Rde523338249644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3b1a752442483a" /><Relationship Type="http://schemas.openxmlformats.org/officeDocument/2006/relationships/notesMaster" Target="/ppt/notesMasters/notesMaster1.xml" Id="R196b2c9b209e43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0c13dd61384811" /><Relationship Type="http://schemas.openxmlformats.org/officeDocument/2006/relationships/notesMaster" Target="/ppt/notesMasters/notesMaster1.xml" Id="R6143ae15f0304e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ebf4851a8f493f" /><Relationship Type="http://schemas.openxmlformats.org/officeDocument/2006/relationships/notesMaster" Target="/ppt/notesMasters/notesMaster1.xml" Id="R78589cf6a58e44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5c7ce47be849ba" /><Relationship Type="http://schemas.openxmlformats.org/officeDocument/2006/relationships/notesMaster" Target="/ppt/notesMasters/notesMaster1.xml" Id="R62e6fed9553947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dedb279b524886" /><Relationship Type="http://schemas.openxmlformats.org/officeDocument/2006/relationships/notesMaster" Target="/ppt/notesMasters/notesMaster1.xml" Id="Rd28479abbc754a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6ea583fe4c47fc" /><Relationship Type="http://schemas.openxmlformats.org/officeDocument/2006/relationships/notesMaster" Target="/ppt/notesMasters/notesMaster1.xml" Id="Rabe19e03d4464b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project overview and one-paragraph pitch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‘The problem, in plain terms’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CellGuide’s idea</a:t>
            </a:r>
          </a:p>
          <a:p xmlns:a="http://schemas.openxmlformats.org/drawingml/2006/main">
            <a:r>
              <a:t>- README.md — project validation philosophy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‘How it’s built’</a:t>
            </a:r>
          </a:p>
          <a:p xmlns:a="http://schemas.openxmlformats.org/drawingml/2006/main">
            <a:r>
              <a:t>- README.md — Track A, Track B, Agents 6 and 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‘What we’ve actually found so far’, Rounds 1–3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key numbers table</a:t>
            </a:r>
          </a:p>
          <a:p xmlns:a="http://schemas.openxmlformats.org/drawingml/2006/main">
            <a:r>
              <a:t>- agent4_benchmarking/output/REPORT.md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Round 3 and key numbers table</a:t>
            </a:r>
          </a:p>
          <a:p xmlns:a="http://schemas.openxmlformats.org/drawingml/2006/main">
            <a:r>
              <a:t>- agent4_benchmarking/output/INTERACTION_EFFECT_CHECK.md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Round 2 caveats</a:t>
            </a:r>
          </a:p>
          <a:p xmlns:a="http://schemas.openxmlformats.org/drawingml/2006/main">
            <a:r>
              <a:t>- README.md — ‘Careful with these claims on a slide’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Track B</a:t>
            </a:r>
          </a:p>
          <a:p xmlns:a="http://schemas.openxmlformats.org/drawingml/2006/main">
            <a:r>
              <a:t>- README.md — Agents 6 and 8</a:t>
            </a:r>
          </a:p>
          <a:p xmlns:a="http://schemas.openxmlformats.org/drawingml/2006/main">
            <a:r>
              <a:t>- README.md — example BCL11A workflow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one-paragraph pitch</a:t>
            </a:r>
          </a:p>
          <a:p xmlns:a="http://schemas.openxmlformats.org/drawingml/2006/main">
            <a:r>
              <a:t>- README.md — open validation work and project philosophy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a393783de84c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6a64a7a2814572" /><Relationship Type="http://schemas.openxmlformats.org/officeDocument/2006/relationships/slideLayout" Target="/ppt/slideLayouts/slideLayout1.xml" Id="R5d0a8373607444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0a8373607444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fc1bba4af450c" /><Relationship Type="http://schemas.openxmlformats.org/officeDocument/2006/relationships/notesSlide" Target="/ppt/notesSlides/notesSlide1.xml" Id="R672fecaea61745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277edfdc1412a" /><Relationship Type="http://schemas.openxmlformats.org/officeDocument/2006/relationships/notesSlide" Target="/ppt/notesSlides/notesSlide2.xml" Id="Rd30e5ab7b8df49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ed7b769df451a" /><Relationship Type="http://schemas.openxmlformats.org/officeDocument/2006/relationships/notesSlide" Target="/ppt/notesSlides/notesSlide3.xml" Id="R641825f505d341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261db957e4611" /><Relationship Type="http://schemas.openxmlformats.org/officeDocument/2006/relationships/notesSlide" Target="/ppt/notesSlides/notesSlide4.xml" Id="Rbe021a46d64343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ba42447694867" /><Relationship Type="http://schemas.openxmlformats.org/officeDocument/2006/relationships/notesSlide" Target="/ppt/notesSlides/notesSlide5.xml" Id="Re9d65c5905aa4a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6fe64f21a4a38" /><Relationship Type="http://schemas.openxmlformats.org/officeDocument/2006/relationships/chart" Target="/ppt/slides/charts/chart1.xml" Id="R665310f2766f4c79" /><Relationship Type="http://schemas.openxmlformats.org/officeDocument/2006/relationships/notesSlide" Target="/ppt/notesSlides/notesSlide6.xml" Id="R7ac1df4610514c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38777b40644aa" /><Relationship Type="http://schemas.openxmlformats.org/officeDocument/2006/relationships/notesSlide" Target="/ppt/notesSlides/notesSlide7.xml" Id="R6e27bec7790449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435b0ac3d41f7" /><Relationship Type="http://schemas.openxmlformats.org/officeDocument/2006/relationships/notesSlide" Target="/ppt/notesSlides/notesSlide8.xml" Id="Re795653a1fe949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9e77aa6e240fd" /><Relationship Type="http://schemas.openxmlformats.org/officeDocument/2006/relationships/notesSlide" Target="/ppt/notesSlides/notesSlide9.xml" Id="R0b0b07a0f12b4a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ef980c351465e" /><Relationship Type="http://schemas.openxmlformats.org/officeDocument/2006/relationships/notesSlide" Target="/ppt/notesSlides/notesSlide10.xml" Id="Rc86780d9564a437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Spearman ρ</c:v>
          </c:tx>
          <c:spPr>
            <a:solidFill xmlns:a="http://schemas.openxmlformats.org/drawingml/2006/main">
              <a:srgbClr val="087F8C"/>
            </a:solidFill>
          </c:spPr>
          <c:cat>
            <c:strLit>
              <c:ptCount val="3"/>
              <c:pt idx="0">
                <c:v>Sequence only</c:v>
              </c:pt>
              <c:pt idx="1">
                <c:v>Linear blend</c:v>
              </c:pt>
              <c:pt idx="2">
                <c:v>Accessibility alone</c:v>
              </c:pt>
            </c:strLit>
          </c:cat>
          <c:val>
            <c:numLit>
              <c:formatCode>General</c:formatCode>
              <c:ptCount val="3"/>
              <c:pt idx="0">
                <c:v>0.441</c:v>
              </c:pt>
              <c:pt idx="1">
                <c:v>0.315</c:v>
              </c:pt>
              <c:pt idx="2">
                <c:v>0.084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5DDD9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0B9CF2E9-75C2-4A3B-90D8-CA461F87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64AB7838-9560-40F1-9312-8C797DAA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CRISPR GUIDE DESIGN • HACKATHON 2026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1AC5C60-D4F2-4E5E-B049-C5437340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762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CellGuide AI</a:t>
            </a:r>
          </a:p>
        </p:txBody>
      </p:sp>
      <p:sp>
        <p:nvSpPr>
          <p:cNvPr id="4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39105340-97AF-4E48-B63E-9600419D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86075"/>
            <a:ext cx="8001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75E68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5E68"/>
                </a:solidFill>
                <a:latin typeface="Aptos"/>
                <a:ea typeface="Aptos"/>
                <a:cs typeface="Aptos"/>
              </a:rPr>
              <a:t>Context-aware guide ranking that stays honest about what the data can—and cannot—prove.</a:t>
            </a:r>
          </a:p>
        </p:txBody>
      </p:sp>
      <p:sp>
        <p:nvSpPr>
          <p:cNvPr id="5" name="cover-tag">
            <a:extLst xmlns:a="http://schemas.openxmlformats.org/drawingml/2006/main">
              <a:ext uri="{FF2B5EF4-FFF2-40B4-BE49-F238E27FC236}">
                <a16:creationId xmlns:a16="http://schemas.microsoft.com/office/drawing/2014/main" id="{B2E92F6F-0CB9-4E76-A369-0E213D9C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590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F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tag-text">
            <a:extLst xmlns:a="http://schemas.openxmlformats.org/drawingml/2006/main">
              <a:ext uri="{FF2B5EF4-FFF2-40B4-BE49-F238E27FC236}">
                <a16:creationId xmlns:a16="http://schemas.microsoft.com/office/drawing/2014/main" id="{2931ED1C-756B-44DC-860B-5171CCC9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Sequence quality  +  chromatin accessibility  +  auditable validation</a:t>
            </a:r>
          </a:p>
        </p:txBody>
      </p:sp>
      <p:sp>
        <p:nvSpPr>
          <p:cNvPr id="7" name="cover-mark">
            <a:extLst xmlns:a="http://schemas.openxmlformats.org/drawingml/2006/main">
              <a:ext uri="{FF2B5EF4-FFF2-40B4-BE49-F238E27FC236}">
                <a16:creationId xmlns:a16="http://schemas.microsoft.com/office/drawing/2014/main" id="{F8615B9E-5680-44C8-BE1D-D0F0813A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14500"/>
            <a:ext cx="142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CG</a:t>
            </a:r>
          </a:p>
        </p:txBody>
      </p:sp>
      <p:sp>
        <p:nvSpPr>
          <p:cNvPr id="8" name="cover-mark-bg">
            <a:extLst xmlns:a="http://schemas.openxmlformats.org/drawingml/2006/main">
              <a:ext uri="{FF2B5EF4-FFF2-40B4-BE49-F238E27FC236}">
                <a16:creationId xmlns:a16="http://schemas.microsoft.com/office/drawing/2014/main" id="{93F9A20E-C8E0-457D-A104-9EC08623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495425"/>
            <a:ext cx="18669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mark-top">
            <a:extLst xmlns:a="http://schemas.openxmlformats.org/drawingml/2006/main">
              <a:ext uri="{FF2B5EF4-FFF2-40B4-BE49-F238E27FC236}">
                <a16:creationId xmlns:a16="http://schemas.microsoft.com/office/drawing/2014/main" id="{C4EEB1B4-1E86-40F7-8108-BC2046D1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14500"/>
            <a:ext cx="142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CG</a:t>
            </a:r>
          </a:p>
        </p:txBody>
      </p:sp>
    </p:spTree>
    <p:extLst>
      <p:ext uri="{BB962C8B-B14F-4D97-AF65-F5344CB8AC3E}">
        <p14:creationId xmlns:p14="http://schemas.microsoft.com/office/powerpoint/2010/main" val="13005941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2">
            <a:extLst xmlns:a="http://schemas.openxmlformats.org/drawingml/2006/main">
              <a:ext uri="{FF2B5EF4-FFF2-40B4-BE49-F238E27FC236}">
                <a16:creationId xmlns:a16="http://schemas.microsoft.com/office/drawing/2014/main" id="{5380FA1C-049B-494B-9178-00267280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E20B4C3C-F100-4784-827B-B25AF416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A good sequence is not always a good guide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57E33047-D3B1-4FB7-9AEC-2760C30D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7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F8450E42-78C2-486E-8C51-7CC870F0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B72"/>
                </a:solidFill>
                <a:latin typeface="Aptos"/>
                <a:ea typeface="Aptos"/>
                <a:cs typeface="Aptos"/>
              </a:rPr>
              <a:t>CELLGUIDE AI</a:t>
            </a:r>
          </a:p>
        </p:txBody>
      </p:sp>
      <p:sp>
        <p:nvSpPr>
          <p:cNvPr id="5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D4C65DA2-35C3-4132-AEB6-1E080B60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B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81D421A3-521C-4B21-8A43-979C8A7D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38300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Most design tools score what is encoded in the guide sequence. Cells add a second constraint: whether Cas9 can physically reach the target DNA.</a:t>
            </a:r>
          </a:p>
        </p:txBody>
      </p:sp>
      <p:sp>
        <p:nvSpPr>
          <p:cNvPr id="7" name="seq-panel">
            <a:extLst xmlns:a="http://schemas.openxmlformats.org/drawingml/2006/main">
              <a:ext uri="{FF2B5EF4-FFF2-40B4-BE49-F238E27FC236}">
                <a16:creationId xmlns:a16="http://schemas.microsoft.com/office/drawing/2014/main" id="{0222A9B3-C4F7-493C-8723-EDCE62EF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19375"/>
            <a:ext cx="52197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  <a:prstDash val="solid"/>
          </a:ln>
        </p:spPr>
      </p:sp>
      <p:sp>
        <p:nvSpPr>
          <p:cNvPr id="8" name="context-panel">
            <a:extLst xmlns:a="http://schemas.openxmlformats.org/drawingml/2006/main">
              <a:ext uri="{FF2B5EF4-FFF2-40B4-BE49-F238E27FC236}">
                <a16:creationId xmlns:a16="http://schemas.microsoft.com/office/drawing/2014/main" id="{1144C8B4-8BAA-4041-960B-B3B07F7A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19375"/>
            <a:ext cx="5715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FF4F3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</p:sp>
      <p:sp>
        <p:nvSpPr>
          <p:cNvPr id="9" name="seq-label">
            <a:extLst xmlns:a="http://schemas.openxmlformats.org/drawingml/2006/main">
              <a:ext uri="{FF2B5EF4-FFF2-40B4-BE49-F238E27FC236}">
                <a16:creationId xmlns:a16="http://schemas.microsoft.com/office/drawing/2014/main" id="{8B791E17-2109-4887-9734-EF61B67A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B72"/>
                </a:solidFill>
                <a:latin typeface="Aptos"/>
                <a:ea typeface="Aptos"/>
                <a:cs typeface="Aptos"/>
              </a:rPr>
              <a:t>SEQUENCE-ONLY VIEW</a:t>
            </a:r>
          </a:p>
        </p:txBody>
      </p:sp>
      <p:sp>
        <p:nvSpPr>
          <p:cNvPr id="10" name="seq-title">
            <a:extLst xmlns:a="http://schemas.openxmlformats.org/drawingml/2006/main">
              <a:ext uri="{FF2B5EF4-FFF2-40B4-BE49-F238E27FC236}">
                <a16:creationId xmlns:a16="http://schemas.microsoft.com/office/drawing/2014/main" id="{864808EF-A36A-495E-A658-2AA12BBF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670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Same 20-nt guide</a:t>
            </a:r>
          </a:p>
        </p:txBody>
      </p:sp>
      <p:sp>
        <p:nvSpPr>
          <p:cNvPr id="11" name="seq-body">
            <a:extLst xmlns:a="http://schemas.openxmlformats.org/drawingml/2006/main">
              <a:ext uri="{FF2B5EF4-FFF2-40B4-BE49-F238E27FC236}">
                <a16:creationId xmlns:a16="http://schemas.microsoft.com/office/drawing/2014/main" id="{001AF574-1BF7-4292-8517-C5F52956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GC content and learned sequence patterns are fixed. The score cannot see the cell type.</a:t>
            </a:r>
          </a:p>
        </p:txBody>
      </p:sp>
      <p:sp>
        <p:nvSpPr>
          <p:cNvPr id="12" name="context-label">
            <a:extLst xmlns:a="http://schemas.openxmlformats.org/drawingml/2006/main">
              <a:ext uri="{FF2B5EF4-FFF2-40B4-BE49-F238E27FC236}">
                <a16:creationId xmlns:a16="http://schemas.microsoft.com/office/drawing/2014/main" id="{0FA3C7E3-EFE4-4C9A-950F-E7150D55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765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CELL-CONTEXT VIEW</a:t>
            </a:r>
          </a:p>
        </p:txBody>
      </p:sp>
      <p:sp>
        <p:nvSpPr>
          <p:cNvPr id="13" name="context-title">
            <a:extLst xmlns:a="http://schemas.openxmlformats.org/drawingml/2006/main">
              <a:ext uri="{FF2B5EF4-FFF2-40B4-BE49-F238E27FC236}">
                <a16:creationId xmlns:a16="http://schemas.microsoft.com/office/drawing/2014/main" id="{F3AB3A07-A4DB-4E25-84F7-4066DEA7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670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Different accessibility</a:t>
            </a:r>
          </a:p>
        </p:txBody>
      </p:sp>
      <p:sp>
        <p:nvSpPr>
          <p:cNvPr id="14" name="context-body">
            <a:extLst xmlns:a="http://schemas.openxmlformats.org/drawingml/2006/main">
              <a:ext uri="{FF2B5EF4-FFF2-40B4-BE49-F238E27FC236}">
                <a16:creationId xmlns:a16="http://schemas.microsoft.com/office/drawing/2014/main" id="{2C46BBB7-D267-4FC6-B86F-97780545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43350"/>
            <a:ext cx="457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12A"/>
                </a:solidFill>
                <a:latin typeface="Aptos"/>
                <a:ea typeface="Aptos"/>
                <a:cs typeface="Aptos"/>
              </a:rPr>
              <a:t>Open chromatin can expose the site; closed chromatin can block it. Accessibility varies by biological condition.</a:t>
            </a:r>
          </a:p>
        </p:txBody>
      </p:sp>
      <p:sp>
        <p:nvSpPr>
          <p:cNvPr id="15" name="open-chip">
            <a:extLst xmlns:a="http://schemas.openxmlformats.org/drawingml/2006/main">
              <a:ext uri="{FF2B5EF4-FFF2-40B4-BE49-F238E27FC236}">
                <a16:creationId xmlns:a16="http://schemas.microsoft.com/office/drawing/2014/main" id="{B45E6220-3DA4-40E4-A6C2-490CC273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2000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FF8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pen-chip-text">
            <a:extLst xmlns:a="http://schemas.openxmlformats.org/drawingml/2006/main">
              <a:ext uri="{FF2B5EF4-FFF2-40B4-BE49-F238E27FC236}">
                <a16:creationId xmlns:a16="http://schemas.microsoft.com/office/drawing/2014/main" id="{FB7436A9-C382-4D43-899A-BCF38B3A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149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5E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5E68"/>
                </a:solidFill>
                <a:latin typeface="Aptos"/>
                <a:ea typeface="Aptos"/>
                <a:cs typeface="Aptos"/>
              </a:rPr>
              <a:t>OPEN → reachable</a:t>
            </a:r>
          </a:p>
        </p:txBody>
      </p:sp>
      <p:sp>
        <p:nvSpPr>
          <p:cNvPr id="17" name="closed-chip">
            <a:extLst xmlns:a="http://schemas.openxmlformats.org/drawingml/2006/main">
              <a:ext uri="{FF2B5EF4-FFF2-40B4-BE49-F238E27FC236}">
                <a16:creationId xmlns:a16="http://schemas.microsoft.com/office/drawing/2014/main" id="{A1D7DA04-E971-4248-B5CA-B821EA7A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67300"/>
            <a:ext cx="2381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E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losed-chip-text">
            <a:extLst xmlns:a="http://schemas.openxmlformats.org/drawingml/2006/main">
              <a:ext uri="{FF2B5EF4-FFF2-40B4-BE49-F238E27FC236}">
                <a16:creationId xmlns:a16="http://schemas.microsoft.com/office/drawing/2014/main" id="{C13A0A42-46B0-44F7-9760-6327B5D5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1149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6B5B"/>
                </a:solidFill>
                <a:latin typeface="Aptos"/>
                <a:ea typeface="Aptos"/>
                <a:cs typeface="Aptos"/>
              </a:rPr>
              <a:t>CLOSED → constrained</a:t>
            </a:r>
          </a:p>
        </p:txBody>
      </p:sp>
    </p:spTree>
    <p:extLst>
      <p:ext uri="{BB962C8B-B14F-4D97-AF65-F5344CB8AC3E}">
        <p14:creationId xmlns:p14="http://schemas.microsoft.com/office/powerpoint/2010/main" val="20988475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3">
            <a:extLst xmlns:a="http://schemas.openxmlformats.org/drawingml/2006/main">
              <a:ext uri="{FF2B5EF4-FFF2-40B4-BE49-F238E27FC236}">
                <a16:creationId xmlns:a16="http://schemas.microsoft.com/office/drawing/2014/main" id="{121A5CBF-97BA-4B1E-A56B-A1CD8C7F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THE IDEA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A88AE99-3C15-419E-A076-1FC17F6D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CellGuide treats context as evidence, not decoration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D4E63FEF-071A-40D6-9D25-5FB13A04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7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5C1042DF-A8F8-4F8B-A6D3-C32D265C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B72"/>
                </a:solidFill>
                <a:latin typeface="Aptos"/>
                <a:ea typeface="Aptos"/>
                <a:cs typeface="Aptos"/>
              </a:rPr>
              <a:t>CELLGUIDE AI</a:t>
            </a:r>
          </a:p>
        </p:txBody>
      </p:sp>
      <p:sp>
        <p:nvSpPr>
          <p:cNvPr id="5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FB0CBDAA-A40F-419E-9FA8-511C5C14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B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idea-lead">
            <a:extLst xmlns:a="http://schemas.openxmlformats.org/drawingml/2006/main">
              <a:ext uri="{FF2B5EF4-FFF2-40B4-BE49-F238E27FC236}">
                <a16:creationId xmlns:a16="http://schemas.microsoft.com/office/drawing/2014/main" id="{A9297323-3DF4-453D-99B9-4B886097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3830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The same guide sequence is evaluated alongside chromatin accessibility, then every conclusion is checked against measured editing outcomes.</a:t>
            </a:r>
          </a:p>
        </p:txBody>
      </p:sp>
      <p:sp>
        <p:nvSpPr>
          <p:cNvPr id="7" name="idea-link-1">
            <a:extLst xmlns:a="http://schemas.openxmlformats.org/drawingml/2006/main">
              <a:ext uri="{FF2B5EF4-FFF2-40B4-BE49-F238E27FC236}">
                <a16:creationId xmlns:a16="http://schemas.microsoft.com/office/drawing/2014/main" id="{9781CA85-E1E8-4C84-B2D4-437650B3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00450"/>
            <a:ext cx="1200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dea-link-2">
            <a:extLst xmlns:a="http://schemas.openxmlformats.org/drawingml/2006/main">
              <a:ext uri="{FF2B5EF4-FFF2-40B4-BE49-F238E27FC236}">
                <a16:creationId xmlns:a16="http://schemas.microsoft.com/office/drawing/2014/main" id="{065AD65E-A63F-49B0-9CD7-5EE5AF0E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00450"/>
            <a:ext cx="1200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dea-guide">
            <a:extLst xmlns:a="http://schemas.openxmlformats.org/drawingml/2006/main">
              <a:ext uri="{FF2B5EF4-FFF2-40B4-BE49-F238E27FC236}">
                <a16:creationId xmlns:a16="http://schemas.microsoft.com/office/drawing/2014/main" id="{2E67D0B8-E5A4-478A-8763-B9D522ED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2571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  <a:prstDash val="solid"/>
          </a:ln>
        </p:spPr>
      </p:sp>
      <p:sp>
        <p:nvSpPr>
          <p:cNvPr id="10" name="idea-context">
            <a:extLst xmlns:a="http://schemas.openxmlformats.org/drawingml/2006/main">
              <a:ext uri="{FF2B5EF4-FFF2-40B4-BE49-F238E27FC236}">
                <a16:creationId xmlns:a16="http://schemas.microsoft.com/office/drawing/2014/main" id="{915E0ED1-ED0E-4A81-9B4D-66A49E80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95550"/>
            <a:ext cx="36576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dea-evidence">
            <a:extLst xmlns:a="http://schemas.openxmlformats.org/drawingml/2006/main">
              <a:ext uri="{FF2B5EF4-FFF2-40B4-BE49-F238E27FC236}">
                <a16:creationId xmlns:a16="http://schemas.microsoft.com/office/drawing/2014/main" id="{E351C546-68B1-4FBD-A377-FDEC877C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81300"/>
            <a:ext cx="2571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  <a:prstDash val="solid"/>
          </a:ln>
        </p:spPr>
      </p:sp>
      <p:sp>
        <p:nvSpPr>
          <p:cNvPr id="12" name="idea-guide-num">
            <a:extLst xmlns:a="http://schemas.openxmlformats.org/drawingml/2006/main">
              <a:ext uri="{FF2B5EF4-FFF2-40B4-BE49-F238E27FC236}">
                <a16:creationId xmlns:a16="http://schemas.microsoft.com/office/drawing/2014/main" id="{AD6993D2-5C01-41AF-AC66-3824EAFA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idea-guide-title">
            <a:extLst xmlns:a="http://schemas.openxmlformats.org/drawingml/2006/main">
              <a:ext uri="{FF2B5EF4-FFF2-40B4-BE49-F238E27FC236}">
                <a16:creationId xmlns:a16="http://schemas.microsoft.com/office/drawing/2014/main" id="{CC57DA8D-4C7B-4C79-8130-B2F6736B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Guide sequence</a:t>
            </a:r>
          </a:p>
        </p:txBody>
      </p:sp>
      <p:sp>
        <p:nvSpPr>
          <p:cNvPr id="14" name="idea-guide-body">
            <a:extLst xmlns:a="http://schemas.openxmlformats.org/drawingml/2006/main">
              <a:ext uri="{FF2B5EF4-FFF2-40B4-BE49-F238E27FC236}">
                <a16:creationId xmlns:a16="http://schemas.microsoft.com/office/drawing/2014/main" id="{AE822C50-0889-44A4-82A4-1619AAC5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Intrinsic on-target potential</a:t>
            </a:r>
          </a:p>
        </p:txBody>
      </p:sp>
      <p:sp>
        <p:nvSpPr>
          <p:cNvPr id="15" name="idea-context-num">
            <a:extLst xmlns:a="http://schemas.openxmlformats.org/drawingml/2006/main">
              <a:ext uri="{FF2B5EF4-FFF2-40B4-BE49-F238E27FC236}">
                <a16:creationId xmlns:a16="http://schemas.microsoft.com/office/drawing/2014/main" id="{64524702-58D5-441C-8A89-85877F12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336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E76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9E76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idea-context-title">
            <a:extLst xmlns:a="http://schemas.openxmlformats.org/drawingml/2006/main">
              <a:ext uri="{FF2B5EF4-FFF2-40B4-BE49-F238E27FC236}">
                <a16:creationId xmlns:a16="http://schemas.microsoft.com/office/drawing/2014/main" id="{C40D31B6-185A-4BDC-AE45-17ED1911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1945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Biological context</a:t>
            </a:r>
          </a:p>
        </p:txBody>
      </p:sp>
      <p:sp>
        <p:nvSpPr>
          <p:cNvPr id="17" name="idea-context-body">
            <a:extLst xmlns:a="http://schemas.openxmlformats.org/drawingml/2006/main">
              <a:ext uri="{FF2B5EF4-FFF2-40B4-BE49-F238E27FC236}">
                <a16:creationId xmlns:a16="http://schemas.microsoft.com/office/drawing/2014/main" id="{9EF6D3C3-E4CA-4BCA-9155-40CB676B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909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ATAC-seq accessibility asks whether the target site is open in the chosen cells.</a:t>
            </a:r>
          </a:p>
        </p:txBody>
      </p:sp>
      <p:sp>
        <p:nvSpPr>
          <p:cNvPr id="18" name="idea-evidence-num">
            <a:extLst xmlns:a="http://schemas.openxmlformats.org/drawingml/2006/main">
              <a:ext uri="{FF2B5EF4-FFF2-40B4-BE49-F238E27FC236}">
                <a16:creationId xmlns:a16="http://schemas.microsoft.com/office/drawing/2014/main" id="{AA199653-A75C-447A-BAAC-62BD8E30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90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idea-evidence-title">
            <a:extLst xmlns:a="http://schemas.openxmlformats.org/drawingml/2006/main">
              <a:ext uri="{FF2B5EF4-FFF2-40B4-BE49-F238E27FC236}">
                <a16:creationId xmlns:a16="http://schemas.microsoft.com/office/drawing/2014/main" id="{51E70C30-2D57-4BD8-B61C-C1026A93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909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Real outcomes</a:t>
            </a:r>
          </a:p>
        </p:txBody>
      </p:sp>
      <p:sp>
        <p:nvSpPr>
          <p:cNvPr id="20" name="idea-evidence-body">
            <a:extLst xmlns:a="http://schemas.openxmlformats.org/drawingml/2006/main">
              <a:ext uri="{FF2B5EF4-FFF2-40B4-BE49-F238E27FC236}">
                <a16:creationId xmlns:a16="http://schemas.microsoft.com/office/drawing/2014/main" id="{8376E9D2-3044-422F-A38A-2E461DC9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671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Benchmark, critique, revise</a:t>
            </a:r>
          </a:p>
        </p:txBody>
      </p:sp>
      <p:sp>
        <p:nvSpPr>
          <p:cNvPr id="21" name="idea-takeaway">
            <a:extLst xmlns:a="http://schemas.openxmlformats.org/drawingml/2006/main">
              <a:ext uri="{FF2B5EF4-FFF2-40B4-BE49-F238E27FC236}">
                <a16:creationId xmlns:a16="http://schemas.microsoft.com/office/drawing/2014/main" id="{A4DDAF68-043B-42CB-B17B-3C83CA91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3400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5E6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5E68"/>
                </a:solidFill>
                <a:latin typeface="Aptos"/>
                <a:ea typeface="Aptos"/>
                <a:cs typeface="Aptos"/>
              </a:rPr>
              <a:t>A context-aware hypothesis is only useful if the validation loop can reject it.</a:t>
            </a:r>
          </a:p>
        </p:txBody>
      </p:sp>
    </p:spTree>
    <p:extLst>
      <p:ext uri="{BB962C8B-B14F-4D97-AF65-F5344CB8AC3E}">
        <p14:creationId xmlns:p14="http://schemas.microsoft.com/office/powerpoint/2010/main" val="9015782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-4">
            <a:extLst xmlns:a="http://schemas.openxmlformats.org/drawingml/2006/main">
              <a:ext uri="{FF2B5EF4-FFF2-40B4-BE49-F238E27FC236}">
                <a16:creationId xmlns:a16="http://schemas.microsoft.com/office/drawing/2014/main" id="{3E3BE7C3-0CCB-47AA-93AB-E36E6721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2EB7E672-F833-4739-B40A-ED004B19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Two workflows share one scoring core and one lab loop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B9AE82DF-B1AD-45A9-93A3-618608C9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7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9593EA91-EA3C-4E21-9C38-863E0EF9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B72"/>
                </a:solidFill>
                <a:latin typeface="Aptos"/>
                <a:ea typeface="Aptos"/>
                <a:cs typeface="Aptos"/>
              </a:rPr>
              <a:t>CELLGUIDE AI</a:t>
            </a:r>
          </a:p>
        </p:txBody>
      </p:sp>
      <p:sp>
        <p:nvSpPr>
          <p:cNvPr id="5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096D8897-A685-499C-B5CE-3D783B98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B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arch-line-a">
            <a:extLst xmlns:a="http://schemas.openxmlformats.org/drawingml/2006/main">
              <a:ext uri="{FF2B5EF4-FFF2-40B4-BE49-F238E27FC236}">
                <a16:creationId xmlns:a16="http://schemas.microsoft.com/office/drawing/2014/main" id="{58A18451-6589-44B6-A8B8-AC0C384C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05125"/>
            <a:ext cx="933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ch-line-b">
            <a:extLst xmlns:a="http://schemas.openxmlformats.org/drawingml/2006/main">
              <a:ext uri="{FF2B5EF4-FFF2-40B4-BE49-F238E27FC236}">
                <a16:creationId xmlns:a16="http://schemas.microsoft.com/office/drawing/2014/main" id="{FA03EFAD-1522-4099-A0E0-B2266148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95825"/>
            <a:ext cx="933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-line-c">
            <a:extLst xmlns:a="http://schemas.openxmlformats.org/drawingml/2006/main">
              <a:ext uri="{FF2B5EF4-FFF2-40B4-BE49-F238E27FC236}">
                <a16:creationId xmlns:a16="http://schemas.microsoft.com/office/drawing/2014/main" id="{6A1C5871-52EC-4552-AAEB-46AD12BD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81425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ch-track-a">
            <a:extLst xmlns:a="http://schemas.openxmlformats.org/drawingml/2006/main">
              <a:ext uri="{FF2B5EF4-FFF2-40B4-BE49-F238E27FC236}">
                <a16:creationId xmlns:a16="http://schemas.microsoft.com/office/drawing/2014/main" id="{4602CAF0-3ACA-4D80-902C-2484309C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25146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  <a:prstDash val="solid"/>
          </a:ln>
        </p:spPr>
      </p:sp>
      <p:sp>
        <p:nvSpPr>
          <p:cNvPr id="10" name="arch-track-b">
            <a:extLst xmlns:a="http://schemas.openxmlformats.org/drawingml/2006/main">
              <a:ext uri="{FF2B5EF4-FFF2-40B4-BE49-F238E27FC236}">
                <a16:creationId xmlns:a16="http://schemas.microsoft.com/office/drawing/2014/main" id="{D69EAE11-36A4-4B1F-8444-F856D3B1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57650"/>
            <a:ext cx="25146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  <a:prstDash val="solid"/>
          </a:ln>
        </p:spPr>
      </p:sp>
      <p:sp>
        <p:nvSpPr>
          <p:cNvPr id="11" name="arch-core">
            <a:extLst xmlns:a="http://schemas.openxmlformats.org/drawingml/2006/main">
              <a:ext uri="{FF2B5EF4-FFF2-40B4-BE49-F238E27FC236}">
                <a16:creationId xmlns:a16="http://schemas.microsoft.com/office/drawing/2014/main" id="{C029868C-A74D-4097-9D48-65198C75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71750"/>
            <a:ext cx="26289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ch-loop">
            <a:extLst xmlns:a="http://schemas.openxmlformats.org/drawingml/2006/main">
              <a:ext uri="{FF2B5EF4-FFF2-40B4-BE49-F238E27FC236}">
                <a16:creationId xmlns:a16="http://schemas.microsoft.com/office/drawing/2014/main" id="{5648F815-3D8F-43B1-BACD-B6244370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41719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FF8DA"/>
          </a:solidFill>
          <a:ln xmlns:a="http://schemas.openxmlformats.org/drawingml/2006/main" w="19050">
            <a:solidFill>
              <a:srgbClr val="B9E769"/>
            </a:solidFill>
            <a:prstDash val="solid"/>
          </a:ln>
        </p:spPr>
      </p:sp>
      <p:sp>
        <p:nvSpPr>
          <p:cNvPr id="13" name="arch-a-label">
            <a:extLst xmlns:a="http://schemas.openxmlformats.org/drawingml/2006/main">
              <a:ext uri="{FF2B5EF4-FFF2-40B4-BE49-F238E27FC236}">
                <a16:creationId xmlns:a16="http://schemas.microsoft.com/office/drawing/2014/main" id="{3FC58F17-78AD-4F93-9DA9-E89816A5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TRACK A</a:t>
            </a:r>
          </a:p>
        </p:txBody>
      </p:sp>
      <p:sp>
        <p:nvSpPr>
          <p:cNvPr id="14" name="arch-a-title">
            <a:extLst xmlns:a="http://schemas.openxmlformats.org/drawingml/2006/main">
              <a:ext uri="{FF2B5EF4-FFF2-40B4-BE49-F238E27FC236}">
                <a16:creationId xmlns:a16="http://schemas.microsoft.com/office/drawing/2014/main" id="{47CABB7E-6EFC-4C1A-8C4D-AD03D262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Build + validate</a:t>
            </a:r>
          </a:p>
        </p:txBody>
      </p:sp>
      <p:sp>
        <p:nvSpPr>
          <p:cNvPr id="15" name="arch-a-body">
            <a:extLst xmlns:a="http://schemas.openxmlformats.org/drawingml/2006/main">
              <a:ext uri="{FF2B5EF4-FFF2-40B4-BE49-F238E27FC236}">
                <a16:creationId xmlns:a16="http://schemas.microsoft.com/office/drawing/2014/main" id="{2BA8882B-5420-4086-91BD-076C9C8F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Literature → formula → benchmark → critique → provenance</a:t>
            </a:r>
          </a:p>
        </p:txBody>
      </p:sp>
      <p:sp>
        <p:nvSpPr>
          <p:cNvPr id="16" name="arch-b-label">
            <a:extLst xmlns:a="http://schemas.openxmlformats.org/drawingml/2006/main">
              <a:ext uri="{FF2B5EF4-FFF2-40B4-BE49-F238E27FC236}">
                <a16:creationId xmlns:a16="http://schemas.microsoft.com/office/drawing/2014/main" id="{E41EBC21-82CA-4908-A244-B06005BE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TRACK B</a:t>
            </a:r>
          </a:p>
        </p:txBody>
      </p:sp>
      <p:sp>
        <p:nvSpPr>
          <p:cNvPr id="17" name="arch-b-title">
            <a:extLst xmlns:a="http://schemas.openxmlformats.org/drawingml/2006/main">
              <a:ext uri="{FF2B5EF4-FFF2-40B4-BE49-F238E27FC236}">
                <a16:creationId xmlns:a16="http://schemas.microsoft.com/office/drawing/2014/main" id="{7C7AD3F9-B377-49BD-B901-285481B6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Score a gene</a:t>
            </a:r>
          </a:p>
        </p:txBody>
      </p:sp>
      <p:sp>
        <p:nvSpPr>
          <p:cNvPr id="18" name="arch-b-body">
            <a:extLst xmlns:a="http://schemas.openxmlformats.org/drawingml/2006/main">
              <a:ext uri="{FF2B5EF4-FFF2-40B4-BE49-F238E27FC236}">
                <a16:creationId xmlns:a16="http://schemas.microsoft.com/office/drawing/2014/main" id="{F9CAF2DF-613B-4022-B306-67CE685F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Gene lookup → candidate guides → prior-report matching</a:t>
            </a:r>
          </a:p>
        </p:txBody>
      </p:sp>
      <p:sp>
        <p:nvSpPr>
          <p:cNvPr id="19" name="arch-core-label">
            <a:extLst xmlns:a="http://schemas.openxmlformats.org/drawingml/2006/main">
              <a:ext uri="{FF2B5EF4-FFF2-40B4-BE49-F238E27FC236}">
                <a16:creationId xmlns:a16="http://schemas.microsoft.com/office/drawing/2014/main" id="{73C8FFAA-C3EF-4AA1-854A-9B6F1649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E7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E769"/>
                </a:solidFill>
                <a:latin typeface="Aptos"/>
                <a:ea typeface="Aptos"/>
                <a:cs typeface="Aptos"/>
              </a:rPr>
              <a:t>SHARED CORE</a:t>
            </a:r>
          </a:p>
        </p:txBody>
      </p:sp>
      <p:sp>
        <p:nvSpPr>
          <p:cNvPr id="20" name="arch-core-title">
            <a:extLst xmlns:a="http://schemas.openxmlformats.org/drawingml/2006/main">
              <a:ext uri="{FF2B5EF4-FFF2-40B4-BE49-F238E27FC236}">
                <a16:creationId xmlns:a16="http://schemas.microsoft.com/office/drawing/2014/main" id="{375FE9F3-EE97-48ED-BFB8-E305463A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194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 3 scoring</a:t>
            </a:r>
          </a:p>
        </p:txBody>
      </p:sp>
      <p:sp>
        <p:nvSpPr>
          <p:cNvPr id="21" name="arch-core-body">
            <a:extLst xmlns:a="http://schemas.openxmlformats.org/drawingml/2006/main">
              <a:ext uri="{FF2B5EF4-FFF2-40B4-BE49-F238E27FC236}">
                <a16:creationId xmlns:a16="http://schemas.microsoft.com/office/drawing/2014/main" id="{7B9BCB9C-E4B1-42B6-8D3C-303A21A1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7667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Sequence efficacy plus accessibility, with assumptions written in SPEC.md</a:t>
            </a:r>
          </a:p>
        </p:txBody>
      </p:sp>
      <p:sp>
        <p:nvSpPr>
          <p:cNvPr id="22" name="arch-loop-label">
            <a:extLst xmlns:a="http://schemas.openxmlformats.org/drawingml/2006/main">
              <a:ext uri="{FF2B5EF4-FFF2-40B4-BE49-F238E27FC236}">
                <a16:creationId xmlns:a16="http://schemas.microsoft.com/office/drawing/2014/main" id="{CCDB1403-0B8F-4F73-BE0D-050F460C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0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E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E68"/>
                </a:solidFill>
                <a:latin typeface="Aptos"/>
                <a:ea typeface="Aptos"/>
                <a:cs typeface="Aptos"/>
              </a:rPr>
              <a:t>CLOSED-LOOP LEARNING</a:t>
            </a:r>
          </a:p>
        </p:txBody>
      </p:sp>
      <p:sp>
        <p:nvSpPr>
          <p:cNvPr id="23" name="arch-loop-title">
            <a:extLst xmlns:a="http://schemas.openxmlformats.org/drawingml/2006/main">
              <a:ext uri="{FF2B5EF4-FFF2-40B4-BE49-F238E27FC236}">
                <a16:creationId xmlns:a16="http://schemas.microsoft.com/office/drawing/2014/main" id="{5C1AFECA-F8CA-4808-924C-3B054EC7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0992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Recommend → test → record → update</a:t>
            </a:r>
          </a:p>
        </p:txBody>
      </p:sp>
      <p:sp>
        <p:nvSpPr>
          <p:cNvPr id="24" name="arch-loop-body">
            <a:extLst xmlns:a="http://schemas.openxmlformats.org/drawingml/2006/main">
              <a:ext uri="{FF2B5EF4-FFF2-40B4-BE49-F238E27FC236}">
                <a16:creationId xmlns:a16="http://schemas.microsoft.com/office/drawing/2014/main" id="{016B648A-A28C-43EE-9699-7C1D6E71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24300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Agent 6 prioritizes the most informative experiment. Agent 8 sends it to Benchling and returns real results.</a:t>
            </a:r>
          </a:p>
        </p:txBody>
      </p:sp>
    </p:spTree>
    <p:extLst>
      <p:ext uri="{BB962C8B-B14F-4D97-AF65-F5344CB8AC3E}">
        <p14:creationId xmlns:p14="http://schemas.microsoft.com/office/powerpoint/2010/main" val="2166089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5">
            <a:extLst xmlns:a="http://schemas.openxmlformats.org/drawingml/2006/main">
              <a:ext uri="{FF2B5EF4-FFF2-40B4-BE49-F238E27FC236}">
                <a16:creationId xmlns:a16="http://schemas.microsoft.com/office/drawing/2014/main" id="{F3DDA704-185A-4E53-B975-869C1915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VALIDATION JOURNEY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CA35ED7-FBDB-41D1-BB14-78756BD4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The pipeline improved by finding reasons to distrust itself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65BC4033-0F59-4337-89CF-F062BAFF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7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40ECB3B4-0F54-4123-B549-30060E9B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B72"/>
                </a:solidFill>
                <a:latin typeface="Aptos"/>
                <a:ea typeface="Aptos"/>
                <a:cs typeface="Aptos"/>
              </a:rPr>
              <a:t>CELLGUIDE AI</a:t>
            </a:r>
          </a:p>
        </p:txBody>
      </p:sp>
      <p:sp>
        <p:nvSpPr>
          <p:cNvPr id="5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4441D3E3-027D-45C1-93A9-E49F0427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B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20BFD8E9-35C6-4B50-911B-83874A8D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71825"/>
            <a:ext cx="10363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dot-136">
            <a:extLst xmlns:a="http://schemas.openxmlformats.org/drawingml/2006/main">
              <a:ext uri="{FF2B5EF4-FFF2-40B4-BE49-F238E27FC236}">
                <a16:creationId xmlns:a16="http://schemas.microsoft.com/office/drawing/2014/main" id="{2B850D50-F799-40AC-871F-B6B02F1B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480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line-dot-520">
            <a:extLst xmlns:a="http://schemas.openxmlformats.org/drawingml/2006/main">
              <a:ext uri="{FF2B5EF4-FFF2-40B4-BE49-F238E27FC236}">
                <a16:creationId xmlns:a16="http://schemas.microsoft.com/office/drawing/2014/main" id="{1427BCE5-41B8-4FB5-8CEB-087D5AAA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meline-dot-904">
            <a:extLst xmlns:a="http://schemas.openxmlformats.org/drawingml/2006/main">
              <a:ext uri="{FF2B5EF4-FFF2-40B4-BE49-F238E27FC236}">
                <a16:creationId xmlns:a16="http://schemas.microsoft.com/office/drawing/2014/main" id="{7817935A-13A3-4CAD-AAB5-79F8BC7B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480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B9E7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1-label">
            <a:extLst xmlns:a="http://schemas.openxmlformats.org/drawingml/2006/main">
              <a:ext uri="{FF2B5EF4-FFF2-40B4-BE49-F238E27FC236}">
                <a16:creationId xmlns:a16="http://schemas.microsoft.com/office/drawing/2014/main" id="{BB7AC6CD-70FD-4653-BDE5-03286416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6B5B"/>
                </a:solidFill>
                <a:latin typeface="Aptos"/>
                <a:ea typeface="Aptos"/>
                <a:cs typeface="Aptos"/>
              </a:rPr>
              <a:t>ROUND 1</a:t>
            </a:r>
          </a:p>
        </p:txBody>
      </p:sp>
      <p:sp>
        <p:nvSpPr>
          <p:cNvPr id="11" name="r2-label">
            <a:extLst xmlns:a="http://schemas.openxmlformats.org/drawingml/2006/main">
              <a:ext uri="{FF2B5EF4-FFF2-40B4-BE49-F238E27FC236}">
                <a16:creationId xmlns:a16="http://schemas.microsoft.com/office/drawing/2014/main" id="{4DC9B164-724B-4D1B-9701-8E1634D0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62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ROUND 2</a:t>
            </a:r>
          </a:p>
        </p:txBody>
      </p:sp>
      <p:sp>
        <p:nvSpPr>
          <p:cNvPr id="12" name="r3-label">
            <a:extLst xmlns:a="http://schemas.openxmlformats.org/drawingml/2006/main">
              <a:ext uri="{FF2B5EF4-FFF2-40B4-BE49-F238E27FC236}">
                <a16:creationId xmlns:a16="http://schemas.microsoft.com/office/drawing/2014/main" id="{72C4792A-9A99-497D-905D-5B1BBAFB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62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E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E68"/>
                </a:solidFill>
                <a:latin typeface="Aptos"/>
                <a:ea typeface="Aptos"/>
                <a:cs typeface="Aptos"/>
              </a:rPr>
              <a:t>ROUND 3</a:t>
            </a:r>
          </a:p>
        </p:txBody>
      </p:sp>
      <p:sp>
        <p:nvSpPr>
          <p:cNvPr id="13" name="r1-title">
            <a:extLst xmlns:a="http://schemas.openxmlformats.org/drawingml/2006/main">
              <a:ext uri="{FF2B5EF4-FFF2-40B4-BE49-F238E27FC236}">
                <a16:creationId xmlns:a16="http://schemas.microsoft.com/office/drawing/2014/main" id="{F2123D44-F9E2-441F-86AF-604C3DA3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The blend underperformed</a:t>
            </a:r>
          </a:p>
        </p:txBody>
      </p:sp>
      <p:sp>
        <p:nvSpPr>
          <p:cNvPr id="14" name="r1-body">
            <a:extLst xmlns:a="http://schemas.openxmlformats.org/drawingml/2006/main">
              <a:ext uri="{FF2B5EF4-FFF2-40B4-BE49-F238E27FC236}">
                <a16:creationId xmlns:a16="http://schemas.microsoft.com/office/drawing/2014/main" id="{EEEDF1FC-02A3-43C5-B096-C76497C1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285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A missing-specificity fallback made unknown data look safe. Specificity was removed instead of disguised.</a:t>
            </a:r>
          </a:p>
        </p:txBody>
      </p:sp>
      <p:sp>
        <p:nvSpPr>
          <p:cNvPr id="15" name="r2-title">
            <a:extLst xmlns:a="http://schemas.openxmlformats.org/drawingml/2006/main">
              <a:ext uri="{FF2B5EF4-FFF2-40B4-BE49-F238E27FC236}">
                <a16:creationId xmlns:a16="http://schemas.microsoft.com/office/drawing/2014/main" id="{DF6960C4-CACA-438B-8F58-3C772658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195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Naive tests missed the signal</a:t>
            </a:r>
          </a:p>
        </p:txBody>
      </p:sp>
      <p:sp>
        <p:nvSpPr>
          <p:cNvPr id="16" name="r2-body">
            <a:extLst xmlns:a="http://schemas.openxmlformats.org/drawingml/2006/main">
              <a:ext uri="{FF2B5EF4-FFF2-40B4-BE49-F238E27FC236}">
                <a16:creationId xmlns:a16="http://schemas.microsoft.com/office/drawing/2014/main" id="{FE837F57-90E5-46F7-8859-27E924F8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67200"/>
            <a:ext cx="285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Marginal accessibility was weak, and ATAC replicate sensitivity remained a real warning.</a:t>
            </a:r>
          </a:p>
        </p:txBody>
      </p:sp>
      <p:sp>
        <p:nvSpPr>
          <p:cNvPr id="17" name="r3-title">
            <a:extLst xmlns:a="http://schemas.openxmlformats.org/drawingml/2006/main">
              <a:ext uri="{FF2B5EF4-FFF2-40B4-BE49-F238E27FC236}">
                <a16:creationId xmlns:a16="http://schemas.microsoft.com/office/drawing/2014/main" id="{17C0EDBD-D6E4-4541-A4AF-D858A537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195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The conditional claim reproduced</a:t>
            </a:r>
          </a:p>
        </p:txBody>
      </p:sp>
      <p:sp>
        <p:nvSpPr>
          <p:cNvPr id="18" name="r3-body">
            <a:extLst xmlns:a="http://schemas.openxmlformats.org/drawingml/2006/main">
              <a:ext uri="{FF2B5EF4-FFF2-40B4-BE49-F238E27FC236}">
                <a16:creationId xmlns:a16="http://schemas.microsoft.com/office/drawing/2014/main" id="{6514695A-E4E2-42AD-BAB4-AAC269BE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67200"/>
            <a:ext cx="304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Among above-median sequence guides, accessibility showed significant conditional value.</a:t>
            </a:r>
          </a:p>
        </p:txBody>
      </p:sp>
    </p:spTree>
    <p:extLst>
      <p:ext uri="{BB962C8B-B14F-4D97-AF65-F5344CB8AC3E}">
        <p14:creationId xmlns:p14="http://schemas.microsoft.com/office/powerpoint/2010/main" val="16689274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6">
            <a:extLst xmlns:a="http://schemas.openxmlformats.org/drawingml/2006/main">
              <a:ext uri="{FF2B5EF4-FFF2-40B4-BE49-F238E27FC236}">
                <a16:creationId xmlns:a16="http://schemas.microsoft.com/office/drawing/2014/main" id="{4FD10A24-628C-43C7-9503-E7ACE427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BENCHMARK EVIDENCE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2F6CD3A0-D7F9-4F0E-8CF1-1FF0D7DA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A simple linear blend made prediction worse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6DFDAB27-6E6E-45F5-AFE6-7B6739B2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7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76D071DC-6A3B-4E8F-A124-62F42FD1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B72"/>
                </a:solidFill>
                <a:latin typeface="Aptos"/>
                <a:ea typeface="Aptos"/>
                <a:cs typeface="Aptos"/>
              </a:rPr>
              <a:t>CELLGUIDE AI</a:t>
            </a:r>
          </a:p>
        </p:txBody>
      </p:sp>
      <p:sp>
        <p:nvSpPr>
          <p:cNvPr id="5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7DDD538D-C1C7-406C-87D2-D2F4AD38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B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chart-context">
            <a:extLst xmlns:a="http://schemas.openxmlformats.org/drawingml/2006/main">
              <a:ext uri="{FF2B5EF4-FFF2-40B4-BE49-F238E27FC236}">
                <a16:creationId xmlns:a16="http://schemas.microsoft.com/office/drawing/2014/main" id="{6C11BDD0-65FF-43EE-877A-B3EAFAB4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Spearman correlation with measured editing efficiency across 199 real guides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95300" y="2076450"/>
          <a:ext xmlns:a="http://schemas.openxmlformats.org/drawingml/2006/main" cx="6858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5310f2766f4c79"/>
          </a:graphicData>
        </a:graphic>
      </p:graphicFrame>
      <p:sp>
        <p:nvSpPr>
          <p:cNvPr id="8" name="chart-callout">
            <a:extLst xmlns:a="http://schemas.openxmlformats.org/drawingml/2006/main">
              <a:ext uri="{FF2B5EF4-FFF2-40B4-BE49-F238E27FC236}">
                <a16:creationId xmlns:a16="http://schemas.microsoft.com/office/drawing/2014/main" id="{4A256B26-ABDA-4E57-915C-B58FFAD8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76450"/>
            <a:ext cx="39243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CE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hart-callout-label">
            <a:extLst xmlns:a="http://schemas.openxmlformats.org/drawingml/2006/main">
              <a:ext uri="{FF2B5EF4-FFF2-40B4-BE49-F238E27FC236}">
                <a16:creationId xmlns:a16="http://schemas.microsoft.com/office/drawing/2014/main" id="{0AE9A2B3-04F7-4809-8690-9E24CE53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6B5B"/>
                </a:solidFill>
                <a:latin typeface="Aptos"/>
                <a:ea typeface="Aptos"/>
                <a:cs typeface="Aptos"/>
              </a:rPr>
              <a:t>THE HONEST VERDICT</a:t>
            </a:r>
          </a:p>
        </p:txBody>
      </p:sp>
      <p:sp>
        <p:nvSpPr>
          <p:cNvPr id="10" name="chart-callout-big">
            <a:extLst xmlns:a="http://schemas.openxmlformats.org/drawingml/2006/main">
              <a:ext uri="{FF2B5EF4-FFF2-40B4-BE49-F238E27FC236}">
                <a16:creationId xmlns:a16="http://schemas.microsoft.com/office/drawing/2014/main" id="{C733448D-1D78-42A1-B312-A4CAAF2E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051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0.315 &lt; 0.441</a:t>
            </a:r>
          </a:p>
        </p:txBody>
      </p:sp>
      <p:sp>
        <p:nvSpPr>
          <p:cNvPr id="11" name="chart-callout-body">
            <a:extLst xmlns:a="http://schemas.openxmlformats.org/drawingml/2006/main">
              <a:ext uri="{FF2B5EF4-FFF2-40B4-BE49-F238E27FC236}">
                <a16:creationId xmlns:a16="http://schemas.microsoft.com/office/drawing/2014/main" id="{54A1B630-F2E4-4699-A211-D1A492B7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00475"/>
            <a:ext cx="314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212A"/>
                </a:solidFill>
                <a:latin typeface="Aptos"/>
                <a:ea typeface="Aptos"/>
                <a:cs typeface="Aptos"/>
              </a:rPr>
              <a:t>Adding accessibility and an ungrounded specificity term did not create a better universal score. The shipped recommendation therefore falls back to the supported sequence signal.</a:t>
            </a:r>
          </a:p>
        </p:txBody>
      </p:sp>
    </p:spTree>
    <p:extLst>
      <p:ext uri="{BB962C8B-B14F-4D97-AF65-F5344CB8AC3E}">
        <p14:creationId xmlns:p14="http://schemas.microsoft.com/office/powerpoint/2010/main" val="11488630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7">
            <a:extLst xmlns:a="http://schemas.openxmlformats.org/drawingml/2006/main">
              <a:ext uri="{FF2B5EF4-FFF2-40B4-BE49-F238E27FC236}">
                <a16:creationId xmlns:a16="http://schemas.microsoft.com/office/drawing/2014/main" id="{C8564C2B-D388-4978-8DCC-19D7CDAB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CORRECTED RESULT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87BA6ABC-B714-490C-B2DA-29960C94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Accessibility matters conditionally—not as a universal add-on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AE8CD94A-F91F-4BB3-BD1E-0F90DB28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7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4DFBAF87-1E95-4F68-B4A8-4ABABF14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B72"/>
                </a:solidFill>
                <a:latin typeface="Aptos"/>
                <a:ea typeface="Aptos"/>
                <a:cs typeface="Aptos"/>
              </a:rPr>
              <a:t>CELLGUIDE AI</a:t>
            </a:r>
          </a:p>
        </p:txBody>
      </p:sp>
      <p:sp>
        <p:nvSpPr>
          <p:cNvPr id="5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D81D4873-701E-46EE-A175-0FF27B98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B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corrected-lead">
            <a:extLst xmlns:a="http://schemas.openxmlformats.org/drawingml/2006/main">
              <a:ext uri="{FF2B5EF4-FFF2-40B4-BE49-F238E27FC236}">
                <a16:creationId xmlns:a16="http://schemas.microsoft.com/office/drawing/2014/main" id="{E9B661B4-F3DE-4616-855B-841667DD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11201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Testing Ito et al.’s actual interaction claim changes the interpretation: accessibility adds value among guides that already have above-median sequence scores.</a:t>
            </a:r>
          </a:p>
        </p:txBody>
      </p:sp>
      <p:sp>
        <p:nvSpPr>
          <p:cNvPr id="7" name="metric-card-0">
            <a:extLst xmlns:a="http://schemas.openxmlformats.org/drawingml/2006/main">
              <a:ext uri="{FF2B5EF4-FFF2-40B4-BE49-F238E27FC236}">
                <a16:creationId xmlns:a16="http://schemas.microsoft.com/office/drawing/2014/main" id="{04EC9DF5-6123-4ABD-8F72-52F7DBEE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0"/>
            <a:ext cx="3238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stat-0">
            <a:extLst xmlns:a="http://schemas.openxmlformats.org/drawingml/2006/main">
              <a:ext uri="{FF2B5EF4-FFF2-40B4-BE49-F238E27FC236}">
                <a16:creationId xmlns:a16="http://schemas.microsoft.com/office/drawing/2014/main" id="{B2B47C38-7AF4-42E4-9979-5652F2D9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705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ρ = 0.232</a:t>
            </a:r>
          </a:p>
        </p:txBody>
      </p:sp>
      <p:sp>
        <p:nvSpPr>
          <p:cNvPr id="9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8CE8A403-2450-4B2C-BF20-EEB6BBB2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705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FF4F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FF4F3"/>
                </a:solidFill>
                <a:latin typeface="Aptos"/>
                <a:ea typeface="Aptos"/>
                <a:cs typeface="Aptos"/>
              </a:rPr>
              <a:t>conditional correlation</a:t>
            </a:r>
          </a:p>
        </p:txBody>
      </p:sp>
      <p:sp>
        <p:nvSpPr>
          <p:cNvPr id="10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40096D3B-2280-4998-B00F-67183F39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57500"/>
            <a:ext cx="3238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  <a:prstDash val="solid"/>
          </a:ln>
        </p:spPr>
      </p:sp>
      <p:sp>
        <p:nvSpPr>
          <p:cNvPr id="11" name="metric-stat-1">
            <a:extLst xmlns:a="http://schemas.openxmlformats.org/drawingml/2006/main">
              <a:ext uri="{FF2B5EF4-FFF2-40B4-BE49-F238E27FC236}">
                <a16:creationId xmlns:a16="http://schemas.microsoft.com/office/drawing/2014/main" id="{A061F869-0B3B-4F72-9416-E313168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76600"/>
            <a:ext cx="2705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p = 0.008</a:t>
            </a:r>
          </a:p>
        </p:txBody>
      </p:sp>
      <p:sp>
        <p:nvSpPr>
          <p:cNvPr id="12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1E154F66-7640-42CD-89B0-8296823A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71950"/>
            <a:ext cx="2705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statistically significant</a:t>
            </a:r>
          </a:p>
        </p:txBody>
      </p:sp>
      <p:sp>
        <p:nvSpPr>
          <p:cNvPr id="13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CEB77132-B3E9-423E-B28D-F32DFB24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57500"/>
            <a:ext cx="3238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FF8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ric-stat-2">
            <a:extLst xmlns:a="http://schemas.openxmlformats.org/drawingml/2006/main">
              <a:ext uri="{FF2B5EF4-FFF2-40B4-BE49-F238E27FC236}">
                <a16:creationId xmlns:a16="http://schemas.microsoft.com/office/drawing/2014/main" id="{3FB938CA-E12F-4A54-AFE8-2DF0FC33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76600"/>
            <a:ext cx="2705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0.741 → 0.862</a:t>
            </a:r>
          </a:p>
        </p:txBody>
      </p:sp>
      <p:sp>
        <p:nvSpPr>
          <p:cNvPr id="15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CAC97F25-7EC1-4711-9241-4B468DD9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71950"/>
            <a:ext cx="2705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gate precision increased</a:t>
            </a:r>
          </a:p>
        </p:txBody>
      </p:sp>
      <p:sp>
        <p:nvSpPr>
          <p:cNvPr id="16" name="corrected-foot">
            <a:extLst xmlns:a="http://schemas.openxmlformats.org/drawingml/2006/main">
              <a:ext uri="{FF2B5EF4-FFF2-40B4-BE49-F238E27FC236}">
                <a16:creationId xmlns:a16="http://schemas.microsoft.com/office/drawing/2014/main" id="{4BB8CF94-9223-472E-ACD4-DACDF1E0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6735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5E6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5E68"/>
                </a:solidFill>
                <a:latin typeface="Aptos"/>
                <a:ea typeface="Aptos"/>
                <a:cs typeface="Aptos"/>
              </a:rPr>
              <a:t>Subset: n = 131 guides with above-median sequence scores. Signal is real, but it is not yet folded into a defensible single score.</a:t>
            </a:r>
          </a:p>
        </p:txBody>
      </p:sp>
    </p:spTree>
    <p:extLst>
      <p:ext uri="{BB962C8B-B14F-4D97-AF65-F5344CB8AC3E}">
        <p14:creationId xmlns:p14="http://schemas.microsoft.com/office/powerpoint/2010/main" val="11113671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8">
            <a:extLst xmlns:a="http://schemas.openxmlformats.org/drawingml/2006/main">
              <a:ext uri="{FF2B5EF4-FFF2-40B4-BE49-F238E27FC236}">
                <a16:creationId xmlns:a16="http://schemas.microsoft.com/office/drawing/2014/main" id="{05531668-81D8-40EF-A19F-C903CA70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WHAT WE WILL NOT OVERCLAIM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CA6ABD30-92DC-4609-B913-829744B3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Three boundaries keep the demo scientifically credible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FBD6093B-88BD-49F7-BDFE-496499FE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7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-8">
            <a:extLst xmlns:a="http://schemas.openxmlformats.org/drawingml/2006/main">
              <a:ext uri="{FF2B5EF4-FFF2-40B4-BE49-F238E27FC236}">
                <a16:creationId xmlns:a16="http://schemas.microsoft.com/office/drawing/2014/main" id="{4A6A8B0B-F778-40F2-AC32-83B72C91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B72"/>
                </a:solidFill>
                <a:latin typeface="Aptos"/>
                <a:ea typeface="Aptos"/>
                <a:cs typeface="Aptos"/>
              </a:rPr>
              <a:t>CELLGUIDE AI</a:t>
            </a:r>
          </a:p>
        </p:txBody>
      </p:sp>
      <p:sp>
        <p:nvSpPr>
          <p:cNvPr id="5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18406A83-BAD7-44C3-AC92-0D995C7C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B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limit-card-0">
            <a:extLst xmlns:a="http://schemas.openxmlformats.org/drawingml/2006/main">
              <a:ext uri="{FF2B5EF4-FFF2-40B4-BE49-F238E27FC236}">
                <a16:creationId xmlns:a16="http://schemas.microsoft.com/office/drawing/2014/main" id="{39645DC7-1F87-4B0E-8FFA-AC6CD899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3238500" cy="3333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CE8E5"/>
          </a:solidFill>
          <a:ln xmlns:a="http://schemas.openxmlformats.org/drawingml/2006/main" w="9525">
            <a:solidFill>
              <a:srgbClr val="F26B5B"/>
            </a:solidFill>
            <a:prstDash val="solid"/>
          </a:ln>
        </p:spPr>
      </p:sp>
      <p:sp>
        <p:nvSpPr>
          <p:cNvPr id="7" name="limit-num-0">
            <a:extLst xmlns:a="http://schemas.openxmlformats.org/drawingml/2006/main">
              <a:ext uri="{FF2B5EF4-FFF2-40B4-BE49-F238E27FC236}">
                <a16:creationId xmlns:a16="http://schemas.microsoft.com/office/drawing/2014/main" id="{157EF563-6E96-4118-9C80-FEBDC2EB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6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limit-head-0">
            <a:extLst xmlns:a="http://schemas.openxmlformats.org/drawingml/2006/main">
              <a:ext uri="{FF2B5EF4-FFF2-40B4-BE49-F238E27FC236}">
                <a16:creationId xmlns:a16="http://schemas.microsoft.com/office/drawing/2014/main" id="{B3CA71D0-98E0-45BC-95B7-37FD93A8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705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No specificity claim</a:t>
            </a:r>
          </a:p>
        </p:txBody>
      </p:sp>
      <p:sp>
        <p:nvSpPr>
          <p:cNvPr id="9" name="limit-body-0">
            <a:extLst xmlns:a="http://schemas.openxmlformats.org/drawingml/2006/main">
              <a:ext uri="{FF2B5EF4-FFF2-40B4-BE49-F238E27FC236}">
                <a16:creationId xmlns:a16="http://schemas.microsoft.com/office/drawing/2014/main" id="{847688BB-1A45-4407-B597-0A96C9C7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2705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Off-target assessment was never grounded in a real data source, so it was removed from the scoring library.</a:t>
            </a:r>
          </a:p>
        </p:txBody>
      </p:sp>
      <p:sp>
        <p:nvSpPr>
          <p:cNvPr id="10" name="limit-card-1">
            <a:extLst xmlns:a="http://schemas.openxmlformats.org/drawingml/2006/main">
              <a:ext uri="{FF2B5EF4-FFF2-40B4-BE49-F238E27FC236}">
                <a16:creationId xmlns:a16="http://schemas.microsoft.com/office/drawing/2014/main" id="{9D38372A-D5DB-4FF5-98DD-5F8ABCD6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3238500" cy="3333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  <a:prstDash val="solid"/>
          </a:ln>
        </p:spPr>
      </p:sp>
      <p:sp>
        <p:nvSpPr>
          <p:cNvPr id="11" name="limit-num-1">
            <a:extLst xmlns:a="http://schemas.openxmlformats.org/drawingml/2006/main">
              <a:ext uri="{FF2B5EF4-FFF2-40B4-BE49-F238E27FC236}">
                <a16:creationId xmlns:a16="http://schemas.microsoft.com/office/drawing/2014/main" id="{7E74584B-935D-4D1A-939B-349A76B0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62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limit-head-1">
            <a:extLst xmlns:a="http://schemas.openxmlformats.org/drawingml/2006/main">
              <a:ext uri="{FF2B5EF4-FFF2-40B4-BE49-F238E27FC236}">
                <a16:creationId xmlns:a16="http://schemas.microsoft.com/office/drawing/2014/main" id="{CCDF2D7F-AB22-4D5F-9DB0-07AEA0E9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52750"/>
            <a:ext cx="2705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ATAC is replicate-sensitive</a:t>
            </a:r>
          </a:p>
        </p:txBody>
      </p:sp>
      <p:sp>
        <p:nvSpPr>
          <p:cNvPr id="13" name="limit-body-1">
            <a:extLst xmlns:a="http://schemas.openxmlformats.org/drawingml/2006/main">
              <a:ext uri="{FF2B5EF4-FFF2-40B4-BE49-F238E27FC236}">
                <a16:creationId xmlns:a16="http://schemas.microsoft.com/office/drawing/2014/main" id="{4329ED2D-48AA-41AA-87EA-CF429963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81425"/>
            <a:ext cx="2705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Borderline guides change pass/fail status across the two accessibility measurements.</a:t>
            </a:r>
          </a:p>
        </p:txBody>
      </p:sp>
      <p:sp>
        <p:nvSpPr>
          <p:cNvPr id="14" name="limit-card-2">
            <a:extLst xmlns:a="http://schemas.openxmlformats.org/drawingml/2006/main">
              <a:ext uri="{FF2B5EF4-FFF2-40B4-BE49-F238E27FC236}">
                <a16:creationId xmlns:a16="http://schemas.microsoft.com/office/drawing/2014/main" id="{B6E20FF7-AFE4-45B6-955C-15459E04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95500"/>
            <a:ext cx="3238500" cy="3333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  <a:prstDash val="solid"/>
          </a:ln>
        </p:spPr>
      </p:sp>
      <p:sp>
        <p:nvSpPr>
          <p:cNvPr id="15" name="limit-num-2">
            <a:extLst xmlns:a="http://schemas.openxmlformats.org/drawingml/2006/main">
              <a:ext uri="{FF2B5EF4-FFF2-40B4-BE49-F238E27FC236}">
                <a16:creationId xmlns:a16="http://schemas.microsoft.com/office/drawing/2014/main" id="{9942AAA2-479A-45A7-B8F9-4DE15D4D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62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limit-head-2">
            <a:extLst xmlns:a="http://schemas.openxmlformats.org/drawingml/2006/main">
              <a:ext uri="{FF2B5EF4-FFF2-40B4-BE49-F238E27FC236}">
                <a16:creationId xmlns:a16="http://schemas.microsoft.com/office/drawing/2014/main" id="{4F613FA3-B965-439D-BA9A-94E9D3F8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2750"/>
            <a:ext cx="2705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Track B needs its own validation</a:t>
            </a:r>
          </a:p>
        </p:txBody>
      </p:sp>
      <p:sp>
        <p:nvSpPr>
          <p:cNvPr id="17" name="limit-body-2">
            <a:extLst xmlns:a="http://schemas.openxmlformats.org/drawingml/2006/main">
              <a:ext uri="{FF2B5EF4-FFF2-40B4-BE49-F238E27FC236}">
                <a16:creationId xmlns:a16="http://schemas.microsoft.com/office/drawing/2014/main" id="{B2775E6A-E538-4A85-AFF8-EC5F87FC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81425"/>
            <a:ext cx="2705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Azimuth-scored new-gene guides do not inherit the ρ = 0.441 result from Ito’s precomputed scores.</a:t>
            </a:r>
          </a:p>
        </p:txBody>
      </p:sp>
    </p:spTree>
    <p:extLst>
      <p:ext uri="{BB962C8B-B14F-4D97-AF65-F5344CB8AC3E}">
        <p14:creationId xmlns:p14="http://schemas.microsoft.com/office/powerpoint/2010/main" val="18428881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-9">
            <a:extLst xmlns:a="http://schemas.openxmlformats.org/drawingml/2006/main">
              <a:ext uri="{FF2B5EF4-FFF2-40B4-BE49-F238E27FC236}">
                <a16:creationId xmlns:a16="http://schemas.microsoft.com/office/drawing/2014/main" id="{CCB167F3-154A-4CBD-BD4A-E0129827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PRODUCT WORKFLOW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9F693F65-D2A3-48D9-B47A-7C9B1C31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A gene name becomes a ranked, traceable experiment</a:t>
            </a:r>
          </a:p>
        </p:txBody>
      </p:sp>
      <p:sp>
        <p:nvSpPr>
          <p:cNvPr id="3" name="rule-9">
            <a:extLst xmlns:a="http://schemas.openxmlformats.org/drawingml/2006/main">
              <a:ext uri="{FF2B5EF4-FFF2-40B4-BE49-F238E27FC236}">
                <a16:creationId xmlns:a16="http://schemas.microsoft.com/office/drawing/2014/main" id="{8174FFF1-E35E-47E0-9EE1-91D687C5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7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-9">
            <a:extLst xmlns:a="http://schemas.openxmlformats.org/drawingml/2006/main">
              <a:ext uri="{FF2B5EF4-FFF2-40B4-BE49-F238E27FC236}">
                <a16:creationId xmlns:a16="http://schemas.microsoft.com/office/drawing/2014/main" id="{0C6DD1F5-B735-4C80-9719-F84BC7DA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B72"/>
                </a:solidFill>
                <a:latin typeface="Aptos"/>
                <a:ea typeface="Aptos"/>
                <a:cs typeface="Aptos"/>
              </a:rPr>
              <a:t>CELLGUIDE AI</a:t>
            </a:r>
          </a:p>
        </p:txBody>
      </p:sp>
      <p:sp>
        <p:nvSpPr>
          <p:cNvPr id="5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FA2B0CC7-3437-47E4-BA64-2F8F4669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B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workflow-lead">
            <a:extLst xmlns:a="http://schemas.openxmlformats.org/drawingml/2006/main">
              <a:ext uri="{FF2B5EF4-FFF2-40B4-BE49-F238E27FC236}">
                <a16:creationId xmlns:a16="http://schemas.microsoft.com/office/drawing/2014/main" id="{5D828C01-26E2-4B64-B6DE-2F09DD89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1120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Track B is the user-facing path; Agents 6 and 8 extend it into a real learning loop.</a:t>
            </a:r>
          </a:p>
        </p:txBody>
      </p:sp>
      <p:sp>
        <p:nvSpPr>
          <p:cNvPr id="7" name="workflow-link-274">
            <a:extLst xmlns:a="http://schemas.openxmlformats.org/drawingml/2006/main">
              <a:ext uri="{FF2B5EF4-FFF2-40B4-BE49-F238E27FC236}">
                <a16:creationId xmlns:a16="http://schemas.microsoft.com/office/drawing/2014/main" id="{66475414-8C37-4E8B-8171-E9F25A4F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00425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orkflow-link-502">
            <a:extLst xmlns:a="http://schemas.openxmlformats.org/drawingml/2006/main">
              <a:ext uri="{FF2B5EF4-FFF2-40B4-BE49-F238E27FC236}">
                <a16:creationId xmlns:a16="http://schemas.microsoft.com/office/drawing/2014/main" id="{9A28323F-8AD0-4E74-BF51-BD783FDF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00425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orkflow-link-730">
            <a:extLst xmlns:a="http://schemas.openxmlformats.org/drawingml/2006/main">
              <a:ext uri="{FF2B5EF4-FFF2-40B4-BE49-F238E27FC236}">
                <a16:creationId xmlns:a16="http://schemas.microsoft.com/office/drawing/2014/main" id="{B73995D2-7DA9-48F5-A526-D1A1A308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00425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orkflow-link-958">
            <a:extLst xmlns:a="http://schemas.openxmlformats.org/drawingml/2006/main">
              <a:ext uri="{FF2B5EF4-FFF2-40B4-BE49-F238E27FC236}">
                <a16:creationId xmlns:a16="http://schemas.microsoft.com/office/drawing/2014/main" id="{0DCCC3DC-B4C4-4C0F-AF20-7391C19E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00425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kflow-card-0">
            <a:extLst xmlns:a="http://schemas.openxmlformats.org/drawingml/2006/main">
              <a:ext uri="{FF2B5EF4-FFF2-40B4-BE49-F238E27FC236}">
                <a16:creationId xmlns:a16="http://schemas.microsoft.com/office/drawing/2014/main" id="{59C7C686-3589-417F-B2BE-9148733F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33650"/>
            <a:ext cx="211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  <a:prstDash val="solid"/>
          </a:ln>
        </p:spPr>
      </p:sp>
      <p:sp>
        <p:nvSpPr>
          <p:cNvPr id="12" name="workflow-tag-0">
            <a:extLst xmlns:a="http://schemas.openxmlformats.org/drawingml/2006/main">
              <a:ext uri="{FF2B5EF4-FFF2-40B4-BE49-F238E27FC236}">
                <a16:creationId xmlns:a16="http://schemas.microsoft.com/office/drawing/2014/main" id="{62C7427C-8496-4242-8016-C8EC6871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workflow-head-0">
            <a:extLst xmlns:a="http://schemas.openxmlformats.org/drawingml/2006/main">
              <a:ext uri="{FF2B5EF4-FFF2-40B4-BE49-F238E27FC236}">
                <a16:creationId xmlns:a16="http://schemas.microsoft.com/office/drawing/2014/main" id="{71DB7171-CB0F-47C3-BFC8-4189A42D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Gene symbol</a:t>
            </a:r>
          </a:p>
        </p:txBody>
      </p:sp>
      <p:sp>
        <p:nvSpPr>
          <p:cNvPr id="14" name="workflow-body-0">
            <a:extLst xmlns:a="http://schemas.openxmlformats.org/drawingml/2006/main">
              <a:ext uri="{FF2B5EF4-FFF2-40B4-BE49-F238E27FC236}">
                <a16:creationId xmlns:a16="http://schemas.microsoft.com/office/drawing/2014/main" id="{2A955E6B-A0E6-4391-ADEF-1BEF36E1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733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e.g., BCL11A</a:t>
            </a:r>
          </a:p>
        </p:txBody>
      </p:sp>
      <p:sp>
        <p:nvSpPr>
          <p:cNvPr id="15" name="workflow-card-1">
            <a:extLst xmlns:a="http://schemas.openxmlformats.org/drawingml/2006/main">
              <a:ext uri="{FF2B5EF4-FFF2-40B4-BE49-F238E27FC236}">
                <a16:creationId xmlns:a16="http://schemas.microsoft.com/office/drawing/2014/main" id="{D25BC8BC-131B-4037-BD0F-922A86B0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33650"/>
            <a:ext cx="1905000" cy="2095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  <a:prstDash val="solid"/>
          </a:ln>
        </p:spPr>
      </p:sp>
      <p:sp>
        <p:nvSpPr>
          <p:cNvPr id="16" name="workflow-tag-1">
            <a:extLst xmlns:a="http://schemas.openxmlformats.org/drawingml/2006/main">
              <a:ext uri="{FF2B5EF4-FFF2-40B4-BE49-F238E27FC236}">
                <a16:creationId xmlns:a16="http://schemas.microsoft.com/office/drawing/2014/main" id="{76CFA0BF-1843-490E-AC93-94846E3E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43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AGENT 3</a:t>
            </a:r>
          </a:p>
        </p:txBody>
      </p:sp>
      <p:sp>
        <p:nvSpPr>
          <p:cNvPr id="17" name="workflow-head-1">
            <a:extLst xmlns:a="http://schemas.openxmlformats.org/drawingml/2006/main">
              <a:ext uri="{FF2B5EF4-FFF2-40B4-BE49-F238E27FC236}">
                <a16:creationId xmlns:a16="http://schemas.microsoft.com/office/drawing/2014/main" id="{13A98798-94A3-4440-9407-DBD3AAAA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527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Find + score</a:t>
            </a:r>
          </a:p>
        </p:txBody>
      </p:sp>
      <p:sp>
        <p:nvSpPr>
          <p:cNvPr id="18" name="workflow-body-1">
            <a:extLst xmlns:a="http://schemas.openxmlformats.org/drawingml/2006/main">
              <a:ext uri="{FF2B5EF4-FFF2-40B4-BE49-F238E27FC236}">
                <a16:creationId xmlns:a16="http://schemas.microsoft.com/office/drawing/2014/main" id="{157B9D92-3A0E-4A66-81C6-207B2F36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290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Real coordinates, sequence and candidate guides</a:t>
            </a:r>
          </a:p>
        </p:txBody>
      </p:sp>
      <p:sp>
        <p:nvSpPr>
          <p:cNvPr id="19" name="workflow-card-2">
            <a:extLst xmlns:a="http://schemas.openxmlformats.org/drawingml/2006/main">
              <a:ext uri="{FF2B5EF4-FFF2-40B4-BE49-F238E27FC236}">
                <a16:creationId xmlns:a16="http://schemas.microsoft.com/office/drawing/2014/main" id="{7B676B55-D837-450F-B97C-89798872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33650"/>
            <a:ext cx="1905000" cy="2095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  <a:prstDash val="solid"/>
          </a:ln>
        </p:spPr>
      </p:sp>
      <p:sp>
        <p:nvSpPr>
          <p:cNvPr id="20" name="workflow-tag-2">
            <a:extLst xmlns:a="http://schemas.openxmlformats.org/drawingml/2006/main">
              <a:ext uri="{FF2B5EF4-FFF2-40B4-BE49-F238E27FC236}">
                <a16:creationId xmlns:a16="http://schemas.microsoft.com/office/drawing/2014/main" id="{49D75386-AF37-4AAC-9DDB-A1958336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43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AGENT 9</a:t>
            </a:r>
          </a:p>
        </p:txBody>
      </p:sp>
      <p:sp>
        <p:nvSpPr>
          <p:cNvPr id="21" name="workflow-head-2">
            <a:extLst xmlns:a="http://schemas.openxmlformats.org/drawingml/2006/main">
              <a:ext uri="{FF2B5EF4-FFF2-40B4-BE49-F238E27FC236}">
                <a16:creationId xmlns:a16="http://schemas.microsoft.com/office/drawing/2014/main" id="{27FC0FDC-CFD8-4224-ABAA-692E4F3B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527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Check reports</a:t>
            </a:r>
          </a:p>
        </p:txBody>
      </p:sp>
      <p:sp>
        <p:nvSpPr>
          <p:cNvPr id="22" name="workflow-body-2">
            <a:extLst xmlns:a="http://schemas.openxmlformats.org/drawingml/2006/main">
              <a:ext uri="{FF2B5EF4-FFF2-40B4-BE49-F238E27FC236}">
                <a16:creationId xmlns:a16="http://schemas.microsoft.com/office/drawing/2014/main" id="{69E0AD16-464D-496F-A827-ABAB0F6D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290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Exact sequence matching after literature search</a:t>
            </a:r>
          </a:p>
        </p:txBody>
      </p:sp>
      <p:sp>
        <p:nvSpPr>
          <p:cNvPr id="23" name="workflow-card-3">
            <a:extLst xmlns:a="http://schemas.openxmlformats.org/drawingml/2006/main">
              <a:ext uri="{FF2B5EF4-FFF2-40B4-BE49-F238E27FC236}">
                <a16:creationId xmlns:a16="http://schemas.microsoft.com/office/drawing/2014/main" id="{68CDB5C2-CF0A-4F4B-96CA-5628CDB8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33650"/>
            <a:ext cx="1905000" cy="2095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  <a:prstDash val="solid"/>
          </a:ln>
        </p:spPr>
      </p:sp>
      <p:sp>
        <p:nvSpPr>
          <p:cNvPr id="24" name="workflow-tag-3">
            <a:extLst xmlns:a="http://schemas.openxmlformats.org/drawingml/2006/main">
              <a:ext uri="{FF2B5EF4-FFF2-40B4-BE49-F238E27FC236}">
                <a16:creationId xmlns:a16="http://schemas.microsoft.com/office/drawing/2014/main" id="{6170746A-79DC-4302-AB90-EB0DDBBF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43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AGENT 6</a:t>
            </a:r>
          </a:p>
        </p:txBody>
      </p:sp>
      <p:sp>
        <p:nvSpPr>
          <p:cNvPr id="25" name="workflow-head-3">
            <a:extLst xmlns:a="http://schemas.openxmlformats.org/drawingml/2006/main">
              <a:ext uri="{FF2B5EF4-FFF2-40B4-BE49-F238E27FC236}">
                <a16:creationId xmlns:a16="http://schemas.microsoft.com/office/drawing/2014/main" id="{B45B74CC-3A98-4B71-8AF7-BB2FF332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527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Choose next test</a:t>
            </a:r>
          </a:p>
        </p:txBody>
      </p:sp>
      <p:sp>
        <p:nvSpPr>
          <p:cNvPr id="26" name="workflow-body-3">
            <a:extLst xmlns:a="http://schemas.openxmlformats.org/drawingml/2006/main">
              <a:ext uri="{FF2B5EF4-FFF2-40B4-BE49-F238E27FC236}">
                <a16:creationId xmlns:a16="http://schemas.microsoft.com/office/drawing/2014/main" id="{A08035A0-2540-4F73-8EEF-3DBF14F3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290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High potential plus high uncertainty</a:t>
            </a:r>
          </a:p>
        </p:txBody>
      </p:sp>
      <p:sp>
        <p:nvSpPr>
          <p:cNvPr id="27" name="workflow-card-4">
            <a:extLst xmlns:a="http://schemas.openxmlformats.org/drawingml/2006/main">
              <a:ext uri="{FF2B5EF4-FFF2-40B4-BE49-F238E27FC236}">
                <a16:creationId xmlns:a16="http://schemas.microsoft.com/office/drawing/2014/main" id="{6703AF32-F2DB-43DC-BF58-3524C75D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33650"/>
            <a:ext cx="1905000" cy="2095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orkflow-tag-4">
            <a:extLst xmlns:a="http://schemas.openxmlformats.org/drawingml/2006/main">
              <a:ext uri="{FF2B5EF4-FFF2-40B4-BE49-F238E27FC236}">
                <a16:creationId xmlns:a16="http://schemas.microsoft.com/office/drawing/2014/main" id="{B492A08F-3382-4A33-AEA1-9C0F2DD8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43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E7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E769"/>
                </a:solidFill>
                <a:latin typeface="Aptos"/>
                <a:ea typeface="Aptos"/>
                <a:cs typeface="Aptos"/>
              </a:rPr>
              <a:t>AGENT 8</a:t>
            </a:r>
          </a:p>
        </p:txBody>
      </p:sp>
      <p:sp>
        <p:nvSpPr>
          <p:cNvPr id="29" name="workflow-head-4">
            <a:extLst xmlns:a="http://schemas.openxmlformats.org/drawingml/2006/main">
              <a:ext uri="{FF2B5EF4-FFF2-40B4-BE49-F238E27FC236}">
                <a16:creationId xmlns:a16="http://schemas.microsoft.com/office/drawing/2014/main" id="{9EE3D7E3-7FD3-4851-9061-AA6D50EF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527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Sync Benchling</a:t>
            </a:r>
          </a:p>
        </p:txBody>
      </p:sp>
      <p:sp>
        <p:nvSpPr>
          <p:cNvPr id="30" name="workflow-body-4">
            <a:extLst xmlns:a="http://schemas.openxmlformats.org/drawingml/2006/main">
              <a:ext uri="{FF2B5EF4-FFF2-40B4-BE49-F238E27FC236}">
                <a16:creationId xmlns:a16="http://schemas.microsoft.com/office/drawing/2014/main" id="{8C24EA61-5622-407B-8B9D-3BCB0385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290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FF4F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FF4F3"/>
                </a:solidFill>
                <a:latin typeface="Aptos"/>
                <a:ea typeface="Aptos"/>
                <a:cs typeface="Aptos"/>
              </a:rPr>
              <a:t>Send recommendation; retrieve lab result</a:t>
            </a:r>
          </a:p>
        </p:txBody>
      </p:sp>
      <p:sp>
        <p:nvSpPr>
          <p:cNvPr id="31" name="workflow-loop">
            <a:extLst xmlns:a="http://schemas.openxmlformats.org/drawingml/2006/main">
              <a:ext uri="{FF2B5EF4-FFF2-40B4-BE49-F238E27FC236}">
                <a16:creationId xmlns:a16="http://schemas.microsoft.com/office/drawing/2014/main" id="{BAAA5813-E8F2-4062-9DF9-21EF48BD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29200"/>
            <a:ext cx="40767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FF8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workflow-loop-text">
            <a:extLst xmlns:a="http://schemas.openxmlformats.org/drawingml/2006/main">
              <a:ext uri="{FF2B5EF4-FFF2-40B4-BE49-F238E27FC236}">
                <a16:creationId xmlns:a16="http://schemas.microsoft.com/office/drawing/2014/main" id="{65CA19F4-4CF9-4953-A7CA-A6C7B4CF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625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5E6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5E68"/>
                </a:solidFill>
                <a:latin typeface="Aptos"/>
                <a:ea typeface="Aptos"/>
                <a:cs typeface="Aptos"/>
              </a:rPr>
              <a:t>Wet-lab result returns to update the next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12968877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lose-band">
            <a:extLst xmlns:a="http://schemas.openxmlformats.org/drawingml/2006/main">
              <a:ext uri="{FF2B5EF4-FFF2-40B4-BE49-F238E27FC236}">
                <a16:creationId xmlns:a16="http://schemas.microsoft.com/office/drawing/2014/main" id="{187FE4B3-8A0A-49FD-B52C-D6683063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2EDE1B83-4DF4-4212-8EDE-BD536F9A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WHAT CELLGUIDE PROVES TODAY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C39B13D7-5EEF-4861-8FFD-CAD04B3E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76350"/>
            <a:ext cx="10287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Trustworthy guide design starts with a score that can admit when it is wrong.</a:t>
            </a:r>
          </a:p>
        </p:txBody>
      </p:sp>
      <p:sp>
        <p:nvSpPr>
          <p:cNvPr id="4" name="close-rule">
            <a:extLst xmlns:a="http://schemas.openxmlformats.org/drawingml/2006/main">
              <a:ext uri="{FF2B5EF4-FFF2-40B4-BE49-F238E27FC236}">
                <a16:creationId xmlns:a16="http://schemas.microsoft.com/office/drawing/2014/main" id="{9854B28B-2479-4EC4-AC43-E526777C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e-num-0">
            <a:extLst xmlns:a="http://schemas.openxmlformats.org/drawingml/2006/main">
              <a:ext uri="{FF2B5EF4-FFF2-40B4-BE49-F238E27FC236}">
                <a16:creationId xmlns:a16="http://schemas.microsoft.com/office/drawing/2014/main" id="{F19E472D-196F-4DA4-8827-CEDB463F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close-head-0">
            <a:extLst xmlns:a="http://schemas.openxmlformats.org/drawingml/2006/main">
              <a:ext uri="{FF2B5EF4-FFF2-40B4-BE49-F238E27FC236}">
                <a16:creationId xmlns:a16="http://schemas.microsoft.com/office/drawing/2014/main" id="{79AADA7F-011C-49E4-A0DA-1078E282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Validate Azimuth</a:t>
            </a:r>
          </a:p>
        </p:txBody>
      </p:sp>
      <p:sp>
        <p:nvSpPr>
          <p:cNvPr id="7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E4EDFA47-8CB2-49FF-81A1-8F037461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58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Finish the in-context benchmark before transferring claims to new genes.</a:t>
            </a:r>
          </a:p>
        </p:txBody>
      </p:sp>
      <p:sp>
        <p:nvSpPr>
          <p:cNvPr id="8" name="close-num-1">
            <a:extLst xmlns:a="http://schemas.openxmlformats.org/drawingml/2006/main">
              <a:ext uri="{FF2B5EF4-FFF2-40B4-BE49-F238E27FC236}">
                <a16:creationId xmlns:a16="http://schemas.microsoft.com/office/drawing/2014/main" id="{E5C4B07A-E6B8-41AF-95CC-69AF3977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242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lose-head-1">
            <a:extLst xmlns:a="http://schemas.openxmlformats.org/drawingml/2006/main">
              <a:ext uri="{FF2B5EF4-FFF2-40B4-BE49-F238E27FC236}">
                <a16:creationId xmlns:a16="http://schemas.microsoft.com/office/drawing/2014/main" id="{3120C053-8588-46B8-9B7A-43614748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624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Model the interaction</a:t>
            </a:r>
          </a:p>
        </p:txBody>
      </p:sp>
      <p:sp>
        <p:nvSpPr>
          <p:cNvPr id="10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7FCBBA7B-CF35-4125-AA7E-8E49CA70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958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Replace the naive linear blend with a conditional accessibility formulation.</a:t>
            </a:r>
          </a:p>
        </p:txBody>
      </p:sp>
      <p:sp>
        <p:nvSpPr>
          <p:cNvPr id="11" name="close-num-2">
            <a:extLst xmlns:a="http://schemas.openxmlformats.org/drawingml/2006/main">
              <a:ext uri="{FF2B5EF4-FFF2-40B4-BE49-F238E27FC236}">
                <a16:creationId xmlns:a16="http://schemas.microsoft.com/office/drawing/2014/main" id="{6BFA20F7-0F0B-4AB9-9344-E51595DC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242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close-head-2">
            <a:extLst xmlns:a="http://schemas.openxmlformats.org/drawingml/2006/main">
              <a:ext uri="{FF2B5EF4-FFF2-40B4-BE49-F238E27FC236}">
                <a16:creationId xmlns:a16="http://schemas.microsoft.com/office/drawing/2014/main" id="{74E22461-C39A-4B9A-91CF-320BDC96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12A"/>
                </a:solidFill>
                <a:latin typeface="Aptos"/>
                <a:ea typeface="Aptos"/>
                <a:cs typeface="Aptos"/>
              </a:rPr>
              <a:t>Generate paired evidence</a:t>
            </a:r>
          </a:p>
        </p:txBody>
      </p:sp>
      <p:sp>
        <p:nvSpPr>
          <p:cNvPr id="13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2AD8DF00-1833-442C-9B49-9A744476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958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2"/>
                </a:solidFill>
                <a:latin typeface="Aptos"/>
                <a:ea typeface="Aptos"/>
                <a:cs typeface="Aptos"/>
              </a:rPr>
              <a:t>Test the same guide across biological contexts and feed results back through Benchling.</a:t>
            </a:r>
          </a:p>
        </p:txBody>
      </p:sp>
      <p:sp>
        <p:nvSpPr>
          <p:cNvPr id="14" name="close-line">
            <a:extLst xmlns:a="http://schemas.openxmlformats.org/drawingml/2006/main">
              <a:ext uri="{FF2B5EF4-FFF2-40B4-BE49-F238E27FC236}">
                <a16:creationId xmlns:a16="http://schemas.microsoft.com/office/drawing/2014/main" id="{546622ED-BDD1-461D-A322-B5F07EDC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5E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5E68"/>
                </a:solidFill>
                <a:latin typeface="Aptos"/>
                <a:ea typeface="Aptos"/>
                <a:cs typeface="Aptos"/>
              </a:rPr>
              <a:t>CellGuide AI • context-aware • evidence-linked • ready to learn from the next experiment</a:t>
            </a:r>
          </a:p>
        </p:txBody>
      </p:sp>
    </p:spTree>
    <p:extLst>
      <p:ext uri="{BB962C8B-B14F-4D97-AF65-F5344CB8AC3E}">
        <p14:creationId xmlns:p14="http://schemas.microsoft.com/office/powerpoint/2010/main" val="9168456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2026-08-16T15:44:28.0280000Z</dcterms:created>
  <dcterms:modified xsi:type="dcterms:W3CDTF">2026-08-16T15:44:28.0280000Z</dcterms:modified>
</coreProperties>
</file>